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5" r:id="rId7"/>
    <p:sldId id="261" r:id="rId8"/>
    <p:sldId id="262" r:id="rId9"/>
    <p:sldId id="266" r:id="rId10"/>
    <p:sldId id="267" r:id="rId11"/>
    <p:sldId id="263" r:id="rId12"/>
    <p:sldId id="264" r:id="rId13"/>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3"/>
  </p:normalViewPr>
  <p:slideViewPr>
    <p:cSldViewPr snapToGrid="0" snapToObjects="1">
      <p:cViewPr varScale="1">
        <p:scale>
          <a:sx n="75" d="100"/>
          <a:sy n="75" d="100"/>
        </p:scale>
        <p:origin x="72"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4023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569490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9" Type="http://schemas.openxmlformats.org/officeDocument/2006/relationships/hyperlink" Target="https://swanso01.github.io/TheFin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380905" y="2153461"/>
            <a:ext cx="9395969" cy="2001972"/>
          </a:xfrm>
          <a:prstGeom prst="rect">
            <a:avLst/>
          </a:prstGeom>
          <a:noFill/>
        </p:spPr>
        <p:txBody>
          <a:bodyPr wrap="square" lIns="0" tIns="0" rIns="0" bIns="0" rtlCol="0" anchor="ctr"/>
          <a:lstStyle/>
          <a:p>
            <a:pPr algn="l">
              <a:lnSpc>
                <a:spcPts val="7884"/>
              </a:lnSpc>
              <a:buNone/>
            </a:pPr>
            <a:r>
              <a:rPr lang="en-US" sz="6750" b="1" kern="0" spc="-405" dirty="0">
                <a:solidFill>
                  <a:srgbClr val="FFFFFF"/>
                </a:solidFill>
                <a:latin typeface="Inter" pitchFamily="34" charset="0"/>
                <a:ea typeface="Inter" pitchFamily="34" charset="-122"/>
                <a:cs typeface="Inter" pitchFamily="34" charset="-120"/>
              </a:rPr>
              <a:t>Making a React App with Firebase Integration</a:t>
            </a:r>
            <a:endParaRPr lang="en-US" dirty="0"/>
          </a:p>
        </p:txBody>
      </p:sp>
      <p:sp>
        <p:nvSpPr>
          <p:cNvPr id="3" name="Object 2"/>
          <p:cNvSpPr/>
          <p:nvPr/>
        </p:nvSpPr>
        <p:spPr>
          <a:xfrm>
            <a:off x="380905" y="4255182"/>
            <a:ext cx="9395969" cy="356543"/>
          </a:xfrm>
          <a:prstGeom prst="rect">
            <a:avLst/>
          </a:prstGeom>
          <a:noFill/>
        </p:spPr>
        <p:txBody>
          <a:bodyPr wrap="square" lIns="0" tIns="0" rIns="0" bIns="0" rtlCol="0" anchor="ctr"/>
          <a:lstStyle/>
          <a:p>
            <a:pPr algn="l">
              <a:lnSpc>
                <a:spcPts val="2809"/>
              </a:lnSpc>
              <a:spcBef>
                <a:spcPts val="770"/>
              </a:spcBef>
              <a:buNone/>
            </a:pPr>
            <a:r>
              <a:rPr lang="en-US" sz="2025" kern="0" spc="-40" dirty="0">
                <a:solidFill>
                  <a:srgbClr val="FFFFFF">
                    <a:alpha val="80000"/>
                  </a:srgbClr>
                </a:solidFill>
                <a:latin typeface="Inter" pitchFamily="34" charset="0"/>
                <a:ea typeface="Inter" pitchFamily="34" charset="-122"/>
                <a:cs typeface="Inter" pitchFamily="34" charset="-120"/>
              </a:rPr>
              <a:t>By Josh and Jerry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0" y="379000"/>
            <a:ext cx="12188953" cy="556121"/>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Introduction to the React App</a:t>
            </a:r>
            <a:endParaRPr lang="en-US" dirty="0"/>
          </a:p>
        </p:txBody>
      </p:sp>
      <p:sp>
        <p:nvSpPr>
          <p:cNvPr id="3" name="Object 2"/>
          <p:cNvSpPr/>
          <p:nvPr/>
        </p:nvSpPr>
        <p:spPr>
          <a:xfrm>
            <a:off x="952262" y="1839373"/>
            <a:ext cx="5446938" cy="3906575"/>
          </a:xfrm>
          <a:prstGeom prst="rect">
            <a:avLst/>
          </a:prstGeom>
          <a:noFill/>
        </p:spPr>
        <p:txBody>
          <a:bodyPr wrap="square" lIns="0" tIns="0" rIns="0" bIns="0" rtlCol="0" anchor="t"/>
          <a:lstStyle/>
          <a:p>
            <a:pPr marL="242900" indent="-242900" algn="l">
              <a:lnSpc>
                <a:spcPts val="3154"/>
              </a:lnSpc>
              <a:buSzPct val="100000"/>
              <a:buChar char="•"/>
            </a:pPr>
            <a:r>
              <a:rPr lang="en-US" sz="2700" b="1" kern="0" spc="-162" dirty="0">
                <a:solidFill>
                  <a:srgbClr val="333333"/>
                </a:solidFill>
                <a:latin typeface="Inter" pitchFamily="34" charset="0"/>
                <a:ea typeface="Inter" pitchFamily="34" charset="-122"/>
                <a:cs typeface="Inter" pitchFamily="34" charset="-120"/>
              </a:rPr>
              <a:t>React-based web app</a:t>
            </a:r>
          </a:p>
          <a:p>
            <a:pPr lvl="1" algn="l">
              <a:lnSpc>
                <a:spcPts val="2392"/>
              </a:lnSpc>
              <a:spcBef>
                <a:spcPts val="321"/>
              </a:spcBef>
              <a:buNone/>
            </a:pPr>
            <a:r>
              <a:rPr lang="en-US" sz="1725" kern="0" spc="-34" dirty="0">
                <a:solidFill>
                  <a:srgbClr val="000000">
                    <a:alpha val="56000"/>
                  </a:srgbClr>
                </a:solidFill>
                <a:latin typeface="Inter" pitchFamily="34" charset="0"/>
                <a:ea typeface="Inter" pitchFamily="34" charset="-122"/>
                <a:cs typeface="Inter" pitchFamily="34" charset="-120"/>
              </a:rPr>
              <a:t>Made using the React JS</a:t>
            </a:r>
          </a:p>
          <a:p>
            <a:pPr marL="242900" indent="-242900" algn="l">
              <a:lnSpc>
                <a:spcPts val="3154"/>
              </a:lnSpc>
              <a:spcBef>
                <a:spcPts val="2555"/>
              </a:spcBef>
              <a:buSzPct val="100000"/>
              <a:buChar char="•"/>
            </a:pPr>
            <a:r>
              <a:rPr lang="en-US" sz="2700" b="1" kern="0" spc="-162" dirty="0">
                <a:solidFill>
                  <a:srgbClr val="333333"/>
                </a:solidFill>
                <a:latin typeface="Inter" pitchFamily="34" charset="0"/>
                <a:ea typeface="Inter" pitchFamily="34" charset="-122"/>
                <a:cs typeface="Inter" pitchFamily="34" charset="-120"/>
              </a:rPr>
              <a:t>Order and user account management</a:t>
            </a:r>
          </a:p>
          <a:p>
            <a:pPr lvl="1" algn="l">
              <a:lnSpc>
                <a:spcPts val="2392"/>
              </a:lnSpc>
              <a:spcBef>
                <a:spcPts val="321"/>
              </a:spcBef>
              <a:buNone/>
            </a:pPr>
            <a:r>
              <a:rPr lang="en-US" sz="1725" kern="0" spc="-34" dirty="0">
                <a:solidFill>
                  <a:srgbClr val="000000">
                    <a:alpha val="56000"/>
                  </a:srgbClr>
                </a:solidFill>
                <a:latin typeface="Inter" pitchFamily="34" charset="0"/>
                <a:ea typeface="Inter" pitchFamily="34" charset="-122"/>
                <a:cs typeface="Inter" pitchFamily="34" charset="-120"/>
              </a:rPr>
              <a:t>Allows users to manage orders and their account information</a:t>
            </a:r>
          </a:p>
          <a:p>
            <a:pPr marL="242900" indent="-242900" algn="l">
              <a:lnSpc>
                <a:spcPts val="3154"/>
              </a:lnSpc>
              <a:spcBef>
                <a:spcPts val="2555"/>
              </a:spcBef>
              <a:buSzPct val="100000"/>
              <a:buChar char="•"/>
            </a:pPr>
            <a:r>
              <a:rPr lang="en-US" sz="2700" b="1" kern="0" spc="-162" dirty="0">
                <a:solidFill>
                  <a:srgbClr val="333333"/>
                </a:solidFill>
                <a:latin typeface="Inter" pitchFamily="34" charset="0"/>
                <a:ea typeface="Inter" pitchFamily="34" charset="-122"/>
                <a:cs typeface="Inter" pitchFamily="34" charset="-120"/>
              </a:rPr>
              <a:t>Dark-themed UI</a:t>
            </a:r>
          </a:p>
          <a:p>
            <a:pPr lvl="1" algn="l">
              <a:lnSpc>
                <a:spcPts val="2392"/>
              </a:lnSpc>
              <a:spcBef>
                <a:spcPts val="321"/>
              </a:spcBef>
              <a:buNone/>
            </a:pPr>
            <a:r>
              <a:rPr lang="en-US" sz="1725" kern="0" spc="-34" dirty="0">
                <a:solidFill>
                  <a:srgbClr val="000000">
                    <a:alpha val="56000"/>
                  </a:srgbClr>
                </a:solidFill>
                <a:latin typeface="Inter" pitchFamily="34" charset="0"/>
                <a:ea typeface="Inter" pitchFamily="34" charset="-122"/>
                <a:cs typeface="Inter" pitchFamily="34" charset="-120"/>
              </a:rPr>
              <a:t>Features a simple, clean, dark-themed user interface</a:t>
            </a:r>
            <a:endParaRPr lang="en-US" dirty="0"/>
          </a:p>
        </p:txBody>
      </p:sp>
      <p:sp>
        <p:nvSpPr>
          <p:cNvPr id="4" name="Object 3"/>
          <p:cNvSpPr/>
          <p:nvPr/>
        </p:nvSpPr>
        <p:spPr>
          <a:xfrm>
            <a:off x="6284928" y="1839373"/>
            <a:ext cx="5446938" cy="2429696"/>
          </a:xfrm>
          <a:prstGeom prst="rect">
            <a:avLst/>
          </a:prstGeom>
          <a:noFill/>
        </p:spPr>
        <p:txBody>
          <a:bodyPr wrap="square" lIns="0" tIns="0" rIns="0" bIns="0" rtlCol="0" anchor="t"/>
          <a:lstStyle/>
          <a:p>
            <a:pPr marL="242900" indent="-242900" algn="l">
              <a:lnSpc>
                <a:spcPts val="3154"/>
              </a:lnSpc>
              <a:buSzPct val="100000"/>
              <a:buChar char="•"/>
            </a:pPr>
            <a:r>
              <a:rPr lang="en-US" sz="2700" b="1" kern="0" spc="-162" dirty="0">
                <a:solidFill>
                  <a:srgbClr val="333333"/>
                </a:solidFill>
                <a:latin typeface="Inter" pitchFamily="34" charset="0"/>
                <a:ea typeface="Inter" pitchFamily="34" charset="-122"/>
                <a:cs typeface="Inter" pitchFamily="34" charset="-120"/>
              </a:rPr>
              <a:t>Firebase integration</a:t>
            </a:r>
          </a:p>
          <a:p>
            <a:pPr lvl="1" algn="l">
              <a:lnSpc>
                <a:spcPts val="2392"/>
              </a:lnSpc>
              <a:spcBef>
                <a:spcPts val="321"/>
              </a:spcBef>
              <a:buNone/>
            </a:pPr>
            <a:r>
              <a:rPr lang="en-US" sz="1725" kern="0" spc="-34" dirty="0">
                <a:solidFill>
                  <a:srgbClr val="000000">
                    <a:alpha val="56000"/>
                  </a:srgbClr>
                </a:solidFill>
                <a:latin typeface="Inter" pitchFamily="34" charset="0"/>
                <a:ea typeface="Inter" pitchFamily="34" charset="-122"/>
                <a:cs typeface="Inter" pitchFamily="34" charset="-120"/>
              </a:rPr>
              <a:t>Uses Firebase API for user authentication and data storage</a:t>
            </a:r>
          </a:p>
          <a:p>
            <a:pPr marL="242900" indent="-242900" algn="l">
              <a:lnSpc>
                <a:spcPts val="3154"/>
              </a:lnSpc>
              <a:spcBef>
                <a:spcPts val="2555"/>
              </a:spcBef>
              <a:buSzPct val="100000"/>
              <a:buChar char="•"/>
            </a:pPr>
            <a:r>
              <a:rPr lang="en-US" sz="2700" b="1" kern="0" spc="-162" dirty="0">
                <a:solidFill>
                  <a:srgbClr val="333333"/>
                </a:solidFill>
                <a:latin typeface="Inter" pitchFamily="34" charset="0"/>
                <a:ea typeface="Inter" pitchFamily="34" charset="-122"/>
                <a:cs typeface="Inter" pitchFamily="34" charset="-120"/>
              </a:rPr>
              <a:t>Key pages</a:t>
            </a:r>
          </a:p>
          <a:p>
            <a:pPr lvl="1" algn="l">
              <a:lnSpc>
                <a:spcPts val="2392"/>
              </a:lnSpc>
              <a:spcBef>
                <a:spcPts val="321"/>
              </a:spcBef>
              <a:buNone/>
            </a:pPr>
            <a:r>
              <a:rPr lang="en-US" sz="1725" kern="0" spc="-34" dirty="0">
                <a:solidFill>
                  <a:srgbClr val="000000">
                    <a:alpha val="56000"/>
                  </a:srgbClr>
                </a:solidFill>
                <a:latin typeface="Inter" pitchFamily="34" charset="0"/>
                <a:ea typeface="Inter" pitchFamily="34" charset="-122"/>
                <a:cs typeface="Inter" pitchFamily="34" charset="-120"/>
              </a:rPr>
              <a:t>Home, Order Materials, Cart, Admin Dashboard, Login/Signup</a:t>
            </a:r>
            <a:endParaRPr lang="en-US" dirty="0"/>
          </a:p>
        </p:txBody>
      </p:sp>
      <p:sp>
        <p:nvSpPr>
          <p:cNvPr id="5" name="Object 4"/>
          <p:cNvSpPr/>
          <p:nvPr/>
        </p:nvSpPr>
        <p:spPr>
          <a:xfrm>
            <a:off x="11855660" y="6497838"/>
            <a:ext cx="133317" cy="237669"/>
          </a:xfrm>
          <a:prstGeom prst="rect">
            <a:avLst/>
          </a:prstGeom>
          <a:noFill/>
        </p:spPr>
        <p:txBody>
          <a:bodyPr/>
          <a:lstStyle/>
          <a:p>
            <a:endParaRPr lang="en-US"/>
          </a:p>
        </p:txBody>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22222"/>
        </a:solidFill>
        <a:effectLst/>
      </p:bgPr>
    </p:bg>
    <p:spTree>
      <p:nvGrpSpPr>
        <p:cNvPr id="1" name=""/>
        <p:cNvGrpSpPr/>
        <p:nvPr/>
      </p:nvGrpSpPr>
      <p:grpSpPr>
        <a:xfrm>
          <a:off x="0" y="0"/>
          <a:ext cx="0" cy="0"/>
          <a:chOff x="0" y="0"/>
          <a:chExt cx="0" cy="0"/>
        </a:xfrm>
      </p:grpSpPr>
      <p:sp>
        <p:nvSpPr>
          <p:cNvPr id="2" name="Object 1"/>
          <p:cNvSpPr/>
          <p:nvPr/>
        </p:nvSpPr>
        <p:spPr>
          <a:xfrm>
            <a:off x="66658" y="2612054"/>
            <a:ext cx="12055635" cy="556121"/>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The Homepage</a:t>
            </a:r>
            <a:endParaRPr lang="en-US" dirty="0"/>
          </a:p>
        </p:txBody>
      </p:sp>
      <p:sp>
        <p:nvSpPr>
          <p:cNvPr id="3" name="Object 2"/>
          <p:cNvSpPr/>
          <p:nvPr/>
        </p:nvSpPr>
        <p:spPr>
          <a:xfrm>
            <a:off x="66658" y="3270781"/>
            <a:ext cx="12055635" cy="950834"/>
          </a:xfrm>
          <a:prstGeom prst="rect">
            <a:avLst/>
          </a:prstGeom>
          <a:noFill/>
        </p:spPr>
        <p:txBody>
          <a:bodyPr wrap="square" lIns="0" tIns="0" rIns="0" bIns="0" rtlCol="0" anchor="ctr"/>
          <a:lstStyle/>
          <a:p>
            <a:pPr algn="ctr">
              <a:lnSpc>
                <a:spcPts val="2497"/>
              </a:lnSpc>
              <a:spcBef>
                <a:spcPts val="792"/>
              </a:spcBef>
              <a:buNone/>
            </a:pPr>
            <a:r>
              <a:rPr lang="en-US" sz="1800" kern="0" spc="-36" dirty="0">
                <a:solidFill>
                  <a:srgbClr val="FFFFFF">
                    <a:alpha val="80000"/>
                  </a:srgbClr>
                </a:solidFill>
                <a:latin typeface="Inter" pitchFamily="34" charset="0"/>
                <a:ea typeface="Inter" pitchFamily="34" charset="-122"/>
                <a:cs typeface="Inter" pitchFamily="34" charset="-120"/>
              </a:rPr>
              <a:t>The homepage of our app shows the products and special offers, designed using React components and styled with a CSS file. The navbar component provides navigation links to other pages like the Order Materials page and the Cart page, allowing users to easily navigate the application.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95226" y="95226"/>
            <a:ext cx="11998500" cy="6665833"/>
          </a:xfrm>
          <a:prstGeom prst="rect">
            <a:avLst/>
          </a:prstGeom>
          <a:solidFill>
            <a:srgbClr val="000000">
              <a:alpha val="0"/>
            </a:srgbClr>
          </a:solidFill>
        </p:spPr>
        <p:txBody>
          <a:bodyPr/>
          <a:lstStyle/>
          <a:p>
            <a:endParaRPr lang="en-US"/>
          </a:p>
        </p:txBody>
      </p:sp>
      <p:pic>
        <p:nvPicPr>
          <p:cNvPr id="3" name="Object 2" descr="msedge_TMil83bAFY.png"/>
          <p:cNvPicPr>
            <a:picLocks noChangeAspect="1"/>
          </p:cNvPicPr>
          <p:nvPr/>
        </p:nvPicPr>
        <p:blipFill>
          <a:blip r:embed="rId3"/>
          <a:srcRect l="-167" t="-4209" r="-167" b="-4209"/>
          <a:stretch/>
        </p:blipFill>
        <p:spPr>
          <a:xfrm>
            <a:off x="95226" y="95226"/>
            <a:ext cx="11998500" cy="6665833"/>
          </a:xfrm>
          <a:prstGeom prst="rect">
            <a:avLst/>
          </a:prstGeom>
        </p:spPr>
      </p:pic>
      <p:sp>
        <p:nvSpPr>
          <p:cNvPr id="4" name="Object 3"/>
          <p:cNvSpPr/>
          <p:nvPr/>
        </p:nvSpPr>
        <p:spPr>
          <a:xfrm>
            <a:off x="5780911" y="544067"/>
            <a:ext cx="57136" cy="79196"/>
          </a:xfrm>
          <a:prstGeom prst="rect">
            <a:avLst/>
          </a:prstGeom>
          <a:noFill/>
        </p:spPr>
        <p:txBody>
          <a:bodyPr wrap="square" lIns="0" tIns="0" rIns="0" bIns="0" rtlCol="0" anchor="t"/>
          <a:lstStyle/>
          <a:p>
            <a:pPr algn="ctr">
              <a:lnSpc>
                <a:spcPts val="624"/>
              </a:lnSpc>
              <a:buNone/>
            </a:pPr>
            <a:r>
              <a:rPr lang="en-US" sz="450" kern="0" spc="-9" dirty="0">
                <a:solidFill>
                  <a:srgbClr val="FFFFFF">
                    <a:alpha val="80000"/>
                  </a:srgbClr>
                </a:solidFill>
                <a:latin typeface="Inter" pitchFamily="34" charset="0"/>
                <a:ea typeface="Inter" pitchFamily="34" charset="-122"/>
                <a:cs typeface="Inter" pitchFamily="34" charset="-120"/>
              </a:rPr>
              <a:t>-</a:t>
            </a:r>
            <a:endParaRPr lang="en-US" dirty="0"/>
          </a:p>
        </p:txBody>
      </p:sp>
      <p:sp>
        <p:nvSpPr>
          <p:cNvPr id="5" name="Object 4"/>
          <p:cNvSpPr/>
          <p:nvPr/>
        </p:nvSpPr>
        <p:spPr>
          <a:xfrm>
            <a:off x="5780911" y="657069"/>
            <a:ext cx="57136" cy="79196"/>
          </a:xfrm>
          <a:prstGeom prst="rect">
            <a:avLst/>
          </a:prstGeom>
          <a:noFill/>
        </p:spPr>
        <p:txBody>
          <a:bodyPr wrap="square" lIns="0" tIns="0" rIns="0" bIns="0" rtlCol="0" anchor="t"/>
          <a:lstStyle/>
          <a:p>
            <a:pPr algn="ctr">
              <a:lnSpc>
                <a:spcPts val="624"/>
              </a:lnSpc>
              <a:spcBef>
                <a:spcPts val="262"/>
              </a:spcBef>
              <a:buNone/>
            </a:pPr>
            <a:r>
              <a:rPr lang="en-US" sz="450" kern="0" spc="-9" dirty="0">
                <a:solidFill>
                  <a:srgbClr val="FFFFFF">
                    <a:alpha val="80000"/>
                  </a:srgbClr>
                </a:solidFill>
                <a:latin typeface="Inter" pitchFamily="34" charset="0"/>
                <a:ea typeface="Inter" pitchFamily="34" charset="-122"/>
                <a:cs typeface="Inter" pitchFamily="34" charset="-120"/>
              </a:rPr>
              <a: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476131" y="476131"/>
            <a:ext cx="4494676" cy="5904024"/>
          </a:xfrm>
          <a:prstGeom prst="rect">
            <a:avLst/>
          </a:prstGeom>
          <a:solidFill>
            <a:srgbClr val="22AAEE"/>
          </a:solidFill>
        </p:spPr>
        <p:txBody>
          <a:bodyPr/>
          <a:lstStyle/>
          <a:p>
            <a:endParaRPr lang="en-US"/>
          </a:p>
        </p:txBody>
      </p:sp>
      <p:pic>
        <p:nvPicPr>
          <p:cNvPr id="3" name="Object 2" descr="Firebase"/>
          <p:cNvPicPr>
            <a:picLocks noChangeAspect="1"/>
          </p:cNvPicPr>
          <p:nvPr/>
        </p:nvPicPr>
        <p:blipFill>
          <a:blip r:embed="rId3"/>
          <a:srcRect l="39473" r="39473"/>
          <a:stretch/>
        </p:blipFill>
        <p:spPr>
          <a:xfrm>
            <a:off x="476131" y="476131"/>
            <a:ext cx="4494676" cy="5904024"/>
          </a:xfrm>
          <a:prstGeom prst="rect">
            <a:avLst/>
          </a:prstGeom>
        </p:spPr>
      </p:pic>
      <p:sp>
        <p:nvSpPr>
          <p:cNvPr id="4" name="Object 3"/>
          <p:cNvSpPr/>
          <p:nvPr/>
        </p:nvSpPr>
        <p:spPr>
          <a:xfrm>
            <a:off x="5176019" y="2135923"/>
            <a:ext cx="6798198" cy="556121"/>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Setting Up Firebase Integration</a:t>
            </a:r>
            <a:endParaRPr lang="en-US" dirty="0"/>
          </a:p>
        </p:txBody>
      </p:sp>
      <p:sp>
        <p:nvSpPr>
          <p:cNvPr id="5" name="Object 4"/>
          <p:cNvSpPr/>
          <p:nvPr/>
        </p:nvSpPr>
        <p:spPr>
          <a:xfrm>
            <a:off x="5176019" y="2794651"/>
            <a:ext cx="6798198" cy="1901667"/>
          </a:xfrm>
          <a:prstGeom prst="rect">
            <a:avLst/>
          </a:prstGeom>
          <a:noFill/>
        </p:spPr>
        <p:txBody>
          <a:bodyPr wrap="square" lIns="0" tIns="0" rIns="0" bIns="0" rtlCol="0" anchor="ctr"/>
          <a:lstStyle/>
          <a:p>
            <a:pPr algn="ctr">
              <a:lnSpc>
                <a:spcPts val="2497"/>
              </a:lnSpc>
              <a:spcBef>
                <a:spcPts val="792"/>
              </a:spcBef>
              <a:buNone/>
            </a:pPr>
            <a:r>
              <a:rPr lang="en-US" sz="1800" kern="0" spc="-36" dirty="0">
                <a:solidFill>
                  <a:srgbClr val="FFFFFF">
                    <a:alpha val="80000"/>
                  </a:srgbClr>
                </a:solidFill>
                <a:latin typeface="Inter" pitchFamily="34" charset="0"/>
                <a:ea typeface="Inter" pitchFamily="34" charset="-122"/>
                <a:cs typeface="Inter" pitchFamily="34" charset="-120"/>
              </a:rPr>
              <a:t>The React app integrates Firebase for authentication as well as data storage. The firebase.js file initializes Firebase with the configuration copied from my Firebase account page, which includes the API key, project ID, and app ID. This file then exports the Firestore (db) and Authentication (auth) services, making them available for use in the App.</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AI-generated content may be incorrect.">
            <a:extLst>
              <a:ext uri="{FF2B5EF4-FFF2-40B4-BE49-F238E27FC236}">
                <a16:creationId xmlns:a16="http://schemas.microsoft.com/office/drawing/2014/main" id="{E0519003-3CC9-CBE3-C452-3CEBC99F33CF}"/>
              </a:ext>
            </a:extLst>
          </p:cNvPr>
          <p:cNvPicPr>
            <a:picLocks noChangeAspect="1"/>
          </p:cNvPicPr>
          <p:nvPr/>
        </p:nvPicPr>
        <p:blipFill>
          <a:blip r:embed="rId3"/>
          <a:srcRect l="14334" t="9741" r="2833" b="5143"/>
          <a:stretch/>
        </p:blipFill>
        <p:spPr>
          <a:xfrm>
            <a:off x="0" y="-1"/>
            <a:ext cx="12192000" cy="7040451"/>
          </a:xfrm>
          <a:prstGeom prst="rect">
            <a:avLst/>
          </a:prstGeom>
        </p:spPr>
      </p:pic>
    </p:spTree>
    <p:extLst>
      <p:ext uri="{BB962C8B-B14F-4D97-AF65-F5344CB8AC3E}">
        <p14:creationId xmlns:p14="http://schemas.microsoft.com/office/powerpoint/2010/main" val="1731883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222222"/>
        </a:solidFill>
        <a:effectLst/>
      </p:bgPr>
    </p:bg>
    <p:spTree>
      <p:nvGrpSpPr>
        <p:cNvPr id="1" name=""/>
        <p:cNvGrpSpPr/>
        <p:nvPr/>
      </p:nvGrpSpPr>
      <p:grpSpPr>
        <a:xfrm>
          <a:off x="0" y="0"/>
          <a:ext cx="0" cy="0"/>
          <a:chOff x="0" y="0"/>
          <a:chExt cx="0" cy="0"/>
        </a:xfrm>
      </p:grpSpPr>
      <p:sp>
        <p:nvSpPr>
          <p:cNvPr id="2" name="Object 1"/>
          <p:cNvSpPr/>
          <p:nvPr/>
        </p:nvSpPr>
        <p:spPr>
          <a:xfrm>
            <a:off x="185691" y="2612054"/>
            <a:ext cx="11817570" cy="556121"/>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Firebase Authentication with UserContext</a:t>
            </a:r>
            <a:endParaRPr lang="en-US" dirty="0"/>
          </a:p>
        </p:txBody>
      </p:sp>
      <p:sp>
        <p:nvSpPr>
          <p:cNvPr id="3" name="Object 2"/>
          <p:cNvSpPr/>
          <p:nvPr/>
        </p:nvSpPr>
        <p:spPr>
          <a:xfrm>
            <a:off x="185691" y="3270781"/>
            <a:ext cx="11817570" cy="950834"/>
          </a:xfrm>
          <a:prstGeom prst="rect">
            <a:avLst/>
          </a:prstGeom>
          <a:noFill/>
        </p:spPr>
        <p:txBody>
          <a:bodyPr wrap="square" lIns="0" tIns="0" rIns="0" bIns="0" rtlCol="0" anchor="ctr"/>
          <a:lstStyle/>
          <a:p>
            <a:pPr algn="ctr">
              <a:lnSpc>
                <a:spcPts val="2497"/>
              </a:lnSpc>
              <a:spcBef>
                <a:spcPts val="792"/>
              </a:spcBef>
              <a:buNone/>
            </a:pPr>
            <a:r>
              <a:rPr lang="en-US" sz="1800" kern="0" spc="-36" dirty="0">
                <a:solidFill>
                  <a:srgbClr val="FFFFFF">
                    <a:alpha val="80000"/>
                  </a:srgbClr>
                </a:solidFill>
                <a:latin typeface="Inter" pitchFamily="34" charset="0"/>
                <a:ea typeface="Inter" pitchFamily="34" charset="-122"/>
                <a:cs typeface="Inter" pitchFamily="34" charset="-120"/>
              </a:rPr>
              <a:t>The user's email, UID, and admin status (if the email is admin@gmail.com) are stored in the user state, which is then provided to all components through the userContext.js file. This allows for conditional rendering, such as redirecting not logged-in users from the /order page to the /login page.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28568" y="2450170"/>
            <a:ext cx="12122295" cy="556121"/>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Firestore for Data Management</a:t>
            </a:r>
            <a:endParaRPr lang="en-US" dirty="0"/>
          </a:p>
        </p:txBody>
      </p:sp>
      <p:sp>
        <p:nvSpPr>
          <p:cNvPr id="3" name="Object 2"/>
          <p:cNvSpPr/>
          <p:nvPr/>
        </p:nvSpPr>
        <p:spPr>
          <a:xfrm>
            <a:off x="28568" y="3108897"/>
            <a:ext cx="12122295" cy="1267778"/>
          </a:xfrm>
          <a:prstGeom prst="rect">
            <a:avLst/>
          </a:prstGeom>
          <a:noFill/>
        </p:spPr>
        <p:txBody>
          <a:bodyPr wrap="square" lIns="0" tIns="0" rIns="0" bIns="0" rtlCol="0" anchor="ctr"/>
          <a:lstStyle/>
          <a:p>
            <a:pPr algn="ctr">
              <a:lnSpc>
                <a:spcPts val="2497"/>
              </a:lnSpc>
              <a:spcBef>
                <a:spcPts val="792"/>
              </a:spcBef>
              <a:buNone/>
            </a:pPr>
            <a:r>
              <a:rPr lang="en-US" sz="1800" kern="0" spc="-36" dirty="0">
                <a:solidFill>
                  <a:srgbClr val="FFFFFF">
                    <a:alpha val="80000"/>
                  </a:srgbClr>
                </a:solidFill>
                <a:latin typeface="Inter" pitchFamily="34" charset="0"/>
                <a:ea typeface="Inter" pitchFamily="34" charset="-122"/>
                <a:cs typeface="Inter" pitchFamily="34" charset="-120"/>
              </a:rPr>
              <a:t>The app uses Firestore, a cloud database provided by Firebase, to store and manage the services data for the application. The UserContext.js file retrieves the services data from the 'services' collection in Firestore using the getDocs() method, which retrieves all the documents and maps them to an array with their own IDs. This service's data is then stored in the application's state and made accessible to all components through the context.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AI-generated content may be incorrect.">
            <a:extLst>
              <a:ext uri="{FF2B5EF4-FFF2-40B4-BE49-F238E27FC236}">
                <a16:creationId xmlns:a16="http://schemas.microsoft.com/office/drawing/2014/main" id="{83D26431-5F6B-5052-8EBC-B57C261C1660}"/>
              </a:ext>
            </a:extLst>
          </p:cNvPr>
          <p:cNvPicPr>
            <a:picLocks noChangeAspect="1"/>
          </p:cNvPicPr>
          <p:nvPr/>
        </p:nvPicPr>
        <p:blipFill>
          <a:blip r:embed="rId2"/>
          <a:srcRect l="17334" t="15227" r="1500" b="5588"/>
          <a:stretch/>
        </p:blipFill>
        <p:spPr>
          <a:xfrm>
            <a:off x="0" y="0"/>
            <a:ext cx="12508787" cy="6858000"/>
          </a:xfrm>
          <a:prstGeom prst="rect">
            <a:avLst/>
          </a:prstGeom>
        </p:spPr>
      </p:pic>
    </p:spTree>
    <p:extLst>
      <p:ext uri="{BB962C8B-B14F-4D97-AF65-F5344CB8AC3E}">
        <p14:creationId xmlns:p14="http://schemas.microsoft.com/office/powerpoint/2010/main" val="1604593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10;&#10;AI-generated content may be incorrect.">
            <a:extLst>
              <a:ext uri="{FF2B5EF4-FFF2-40B4-BE49-F238E27FC236}">
                <a16:creationId xmlns:a16="http://schemas.microsoft.com/office/drawing/2014/main" id="{71981BFC-52E9-9F65-C057-0C6F4A6619E1}"/>
              </a:ext>
            </a:extLst>
          </p:cNvPr>
          <p:cNvPicPr>
            <a:picLocks noChangeAspect="1"/>
          </p:cNvPicPr>
          <p:nvPr/>
        </p:nvPicPr>
        <p:blipFill>
          <a:blip r:embed="rId2"/>
          <a:srcRect l="15250" t="10482" r="6834" b="2623"/>
          <a:stretch/>
        </p:blipFill>
        <p:spPr>
          <a:xfrm>
            <a:off x="0" y="0"/>
            <a:ext cx="12192000" cy="6858000"/>
          </a:xfrm>
          <a:prstGeom prst="rect">
            <a:avLst/>
          </a:prstGeom>
        </p:spPr>
      </p:pic>
    </p:spTree>
    <p:extLst>
      <p:ext uri="{BB962C8B-B14F-4D97-AF65-F5344CB8AC3E}">
        <p14:creationId xmlns:p14="http://schemas.microsoft.com/office/powerpoint/2010/main" val="3101089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0" y="379000"/>
            <a:ext cx="12188953" cy="556121"/>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Key Features and Pages</a:t>
            </a:r>
            <a:endParaRPr lang="en-US" dirty="0"/>
          </a:p>
        </p:txBody>
      </p:sp>
      <p:sp>
        <p:nvSpPr>
          <p:cNvPr id="3" name="Object 2"/>
          <p:cNvSpPr/>
          <p:nvPr/>
        </p:nvSpPr>
        <p:spPr>
          <a:xfrm>
            <a:off x="987972" y="2527065"/>
            <a:ext cx="1428393" cy="1428393"/>
          </a:xfrm>
          <a:prstGeom prst="ellipse">
            <a:avLst/>
          </a:prstGeom>
          <a:solidFill>
            <a:srgbClr val="22AAEE"/>
          </a:solidFill>
        </p:spPr>
        <p:txBody>
          <a:bodyPr/>
          <a:lstStyle/>
          <a:p>
            <a:endParaRPr lang="en-US"/>
          </a:p>
        </p:txBody>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0638" y="2889743"/>
            <a:ext cx="704674" cy="704674"/>
          </a:xfrm>
          <a:prstGeom prst="rect">
            <a:avLst/>
          </a:prstGeom>
        </p:spPr>
      </p:pic>
      <p:sp>
        <p:nvSpPr>
          <p:cNvPr id="5" name="Object 4"/>
          <p:cNvSpPr/>
          <p:nvPr/>
        </p:nvSpPr>
        <p:spPr>
          <a:xfrm>
            <a:off x="676106" y="4051716"/>
            <a:ext cx="2042602" cy="26687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HomePage</a:t>
            </a:r>
            <a:endParaRPr lang="en-US" dirty="0"/>
          </a:p>
        </p:txBody>
      </p:sp>
      <p:sp>
        <p:nvSpPr>
          <p:cNvPr id="6" name="Object 5"/>
          <p:cNvSpPr/>
          <p:nvPr/>
        </p:nvSpPr>
        <p:spPr>
          <a:xfrm>
            <a:off x="676106" y="4395800"/>
            <a:ext cx="2042602" cy="528188"/>
          </a:xfrm>
          <a:prstGeom prst="rect">
            <a:avLst/>
          </a:prstGeom>
          <a:noFill/>
        </p:spPr>
        <p:txBody>
          <a:bodyPr wrap="square" lIns="0" tIns="0" rIns="0" bIns="0" rtlCol="0" anchor="t"/>
          <a:lstStyle/>
          <a:p>
            <a:pPr algn="ctr">
              <a:lnSpc>
                <a:spcPts val="2081"/>
              </a:lnSpc>
              <a:spcBef>
                <a:spcPts val="596"/>
              </a:spcBef>
              <a:buNone/>
            </a:pPr>
            <a:r>
              <a:rPr lang="en-US" sz="1500" kern="0" spc="-30" dirty="0">
                <a:solidFill>
                  <a:srgbClr val="000000">
                    <a:alpha val="56000"/>
                  </a:srgbClr>
                </a:solidFill>
                <a:latin typeface="Inter" pitchFamily="34" charset="0"/>
                <a:ea typeface="Inter" pitchFamily="34" charset="-122"/>
                <a:cs typeface="Inter" pitchFamily="34" charset="-120"/>
              </a:rPr>
              <a:t>Displays products and special offers</a:t>
            </a:r>
            <a:endParaRPr lang="en-US" dirty="0"/>
          </a:p>
        </p:txBody>
      </p:sp>
      <p:sp>
        <p:nvSpPr>
          <p:cNvPr id="7" name="Object 6"/>
          <p:cNvSpPr/>
          <p:nvPr/>
        </p:nvSpPr>
        <p:spPr>
          <a:xfrm>
            <a:off x="3916177" y="2527065"/>
            <a:ext cx="1428393" cy="1428393"/>
          </a:xfrm>
          <a:prstGeom prst="ellipse">
            <a:avLst/>
          </a:prstGeom>
          <a:solidFill>
            <a:srgbClr val="FFD9AD"/>
          </a:solidFill>
        </p:spPr>
        <p:txBody>
          <a:bodyPr/>
          <a:lstStyle/>
          <a:p>
            <a:endParaRPr lang="en-US"/>
          </a:p>
        </p:txBody>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79287" y="2872997"/>
            <a:ext cx="504699" cy="742764"/>
          </a:xfrm>
          <a:prstGeom prst="rect">
            <a:avLst/>
          </a:prstGeom>
        </p:spPr>
      </p:pic>
      <p:sp>
        <p:nvSpPr>
          <p:cNvPr id="9" name="Object 8"/>
          <p:cNvSpPr/>
          <p:nvPr/>
        </p:nvSpPr>
        <p:spPr>
          <a:xfrm>
            <a:off x="3373864" y="4051716"/>
            <a:ext cx="2503497" cy="26687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OrderMaterialsPage</a:t>
            </a:r>
            <a:endParaRPr lang="en-US" dirty="0"/>
          </a:p>
        </p:txBody>
      </p:sp>
      <p:sp>
        <p:nvSpPr>
          <p:cNvPr id="10" name="Object 9"/>
          <p:cNvSpPr/>
          <p:nvPr/>
        </p:nvSpPr>
        <p:spPr>
          <a:xfrm>
            <a:off x="3373864" y="4395800"/>
            <a:ext cx="2503497" cy="528188"/>
          </a:xfrm>
          <a:prstGeom prst="rect">
            <a:avLst/>
          </a:prstGeom>
          <a:noFill/>
        </p:spPr>
        <p:txBody>
          <a:bodyPr wrap="square" lIns="0" tIns="0" rIns="0" bIns="0" rtlCol="0" anchor="t"/>
          <a:lstStyle/>
          <a:p>
            <a:pPr algn="ctr">
              <a:lnSpc>
                <a:spcPts val="2081"/>
              </a:lnSpc>
              <a:spcBef>
                <a:spcPts val="596"/>
              </a:spcBef>
              <a:buNone/>
            </a:pPr>
            <a:r>
              <a:rPr lang="en-US" sz="1500" kern="0" spc="-30" dirty="0">
                <a:solidFill>
                  <a:srgbClr val="000000">
                    <a:alpha val="56000"/>
                  </a:srgbClr>
                </a:solidFill>
                <a:latin typeface="Inter" pitchFamily="34" charset="0"/>
                <a:ea typeface="Inter" pitchFamily="34" charset="-122"/>
                <a:cs typeface="Inter" pitchFamily="34" charset="-120"/>
              </a:rPr>
              <a:t>Allows authenticated users to place orders</a:t>
            </a:r>
            <a:endParaRPr lang="en-US" dirty="0"/>
          </a:p>
        </p:txBody>
      </p:sp>
      <p:sp>
        <p:nvSpPr>
          <p:cNvPr id="11" name="Object 10"/>
          <p:cNvSpPr/>
          <p:nvPr/>
        </p:nvSpPr>
        <p:spPr>
          <a:xfrm>
            <a:off x="6844382" y="2527065"/>
            <a:ext cx="1428393" cy="1428393"/>
          </a:xfrm>
          <a:prstGeom prst="ellipse">
            <a:avLst/>
          </a:prstGeom>
          <a:solidFill>
            <a:srgbClr val="FEC088"/>
          </a:solidFill>
        </p:spPr>
        <p:txBody>
          <a:bodyPr/>
          <a:lstStyle/>
          <a:p>
            <a:endParaRPr lang="en-US"/>
          </a:p>
        </p:txBody>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57277" y="2856264"/>
            <a:ext cx="609448" cy="780855"/>
          </a:xfrm>
          <a:prstGeom prst="rect">
            <a:avLst/>
          </a:prstGeom>
        </p:spPr>
      </p:pic>
      <p:sp>
        <p:nvSpPr>
          <p:cNvPr id="13" name="Object 12"/>
          <p:cNvSpPr/>
          <p:nvPr/>
        </p:nvSpPr>
        <p:spPr>
          <a:xfrm>
            <a:off x="6422530" y="4051716"/>
            <a:ext cx="2262574" cy="26687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CartPage</a:t>
            </a:r>
            <a:endParaRPr lang="en-US" dirty="0"/>
          </a:p>
        </p:txBody>
      </p:sp>
      <p:sp>
        <p:nvSpPr>
          <p:cNvPr id="14" name="Object 13"/>
          <p:cNvSpPr/>
          <p:nvPr/>
        </p:nvSpPr>
        <p:spPr>
          <a:xfrm>
            <a:off x="6422530" y="4395800"/>
            <a:ext cx="2262574" cy="528188"/>
          </a:xfrm>
          <a:prstGeom prst="rect">
            <a:avLst/>
          </a:prstGeom>
          <a:noFill/>
        </p:spPr>
        <p:txBody>
          <a:bodyPr wrap="square" lIns="0" tIns="0" rIns="0" bIns="0" rtlCol="0" anchor="t"/>
          <a:lstStyle/>
          <a:p>
            <a:pPr algn="ctr">
              <a:lnSpc>
                <a:spcPts val="2081"/>
              </a:lnSpc>
              <a:spcBef>
                <a:spcPts val="596"/>
              </a:spcBef>
              <a:buNone/>
            </a:pPr>
            <a:r>
              <a:rPr lang="en-US" sz="1500" kern="0" spc="-30" dirty="0">
                <a:solidFill>
                  <a:srgbClr val="000000">
                    <a:alpha val="56000"/>
                  </a:srgbClr>
                </a:solidFill>
                <a:latin typeface="Inter" pitchFamily="34" charset="0"/>
                <a:ea typeface="Inter" pitchFamily="34" charset="-122"/>
                <a:cs typeface="Inter" pitchFamily="34" charset="-120"/>
              </a:rPr>
              <a:t>Manages cart items with remove functionality</a:t>
            </a:r>
            <a:endParaRPr lang="en-US" dirty="0"/>
          </a:p>
        </p:txBody>
      </p:sp>
      <p:sp>
        <p:nvSpPr>
          <p:cNvPr id="15" name="Object 14"/>
          <p:cNvSpPr/>
          <p:nvPr/>
        </p:nvSpPr>
        <p:spPr>
          <a:xfrm>
            <a:off x="9772587" y="2527065"/>
            <a:ext cx="1428393" cy="1428393"/>
          </a:xfrm>
          <a:prstGeom prst="ellipse">
            <a:avLst/>
          </a:prstGeom>
          <a:solidFill>
            <a:srgbClr val="FD864D"/>
          </a:solidFill>
        </p:spPr>
        <p:txBody>
          <a:bodyPr/>
          <a:lstStyle/>
          <a:p>
            <a:endParaRPr lang="en-US"/>
          </a:p>
        </p:txBody>
      </p:sp>
      <p:pic>
        <p:nvPicPr>
          <p:cNvPr id="16" name="Object 1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68748" y="2923220"/>
            <a:ext cx="638015" cy="638015"/>
          </a:xfrm>
          <a:prstGeom prst="rect">
            <a:avLst/>
          </a:prstGeom>
        </p:spPr>
      </p:pic>
      <p:sp>
        <p:nvSpPr>
          <p:cNvPr id="17" name="Object 16"/>
          <p:cNvSpPr/>
          <p:nvPr/>
        </p:nvSpPr>
        <p:spPr>
          <a:xfrm>
            <a:off x="9308836" y="4051716"/>
            <a:ext cx="2346373" cy="26687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AdminDashboardPage</a:t>
            </a:r>
            <a:endParaRPr lang="en-US" dirty="0"/>
          </a:p>
        </p:txBody>
      </p:sp>
      <p:sp>
        <p:nvSpPr>
          <p:cNvPr id="18" name="Object 17"/>
          <p:cNvSpPr/>
          <p:nvPr/>
        </p:nvSpPr>
        <p:spPr>
          <a:xfrm>
            <a:off x="9308836" y="4395800"/>
            <a:ext cx="2346373" cy="528188"/>
          </a:xfrm>
          <a:prstGeom prst="rect">
            <a:avLst/>
          </a:prstGeom>
          <a:noFill/>
        </p:spPr>
        <p:txBody>
          <a:bodyPr wrap="square" lIns="0" tIns="0" rIns="0" bIns="0" rtlCol="0" anchor="t"/>
          <a:lstStyle/>
          <a:p>
            <a:pPr algn="ctr">
              <a:lnSpc>
                <a:spcPts val="2081"/>
              </a:lnSpc>
              <a:spcBef>
                <a:spcPts val="596"/>
              </a:spcBef>
              <a:buNone/>
            </a:pPr>
            <a:r>
              <a:rPr lang="en-US" sz="1500" kern="0" spc="-30" dirty="0">
                <a:solidFill>
                  <a:srgbClr val="000000">
                    <a:alpha val="56000"/>
                  </a:srgbClr>
                </a:solidFill>
                <a:latin typeface="Inter" pitchFamily="34" charset="0"/>
                <a:ea typeface="Inter" pitchFamily="34" charset="-122"/>
                <a:cs typeface="Inter" pitchFamily="34" charset="-120"/>
              </a:rPr>
              <a:t>Admin-only page for managing services</a:t>
            </a:r>
            <a:endParaRPr lang="en-US" dirty="0"/>
          </a:p>
        </p:txBody>
      </p:sp>
      <p:sp>
        <p:nvSpPr>
          <p:cNvPr id="19" name="Object 18"/>
          <p:cNvSpPr/>
          <p:nvPr/>
        </p:nvSpPr>
        <p:spPr>
          <a:xfrm>
            <a:off x="11855660" y="6497838"/>
            <a:ext cx="133317" cy="237669"/>
          </a:xfrm>
          <a:prstGeom prst="rect">
            <a:avLst/>
          </a:prstGeom>
          <a:noFill/>
        </p:spPr>
        <p:txBody>
          <a:bodyPr/>
          <a:lstStyle/>
          <a:p>
            <a:endParaRPr lang="en-US"/>
          </a:p>
        </p:txBody>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0" y="379000"/>
            <a:ext cx="12188953" cy="556121"/>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Conclusion and Future Improvements</a:t>
            </a:r>
            <a:endParaRPr lang="en-US" dirty="0"/>
          </a:p>
        </p:txBody>
      </p:sp>
      <p:sp>
        <p:nvSpPr>
          <p:cNvPr id="3" name="Object 2"/>
          <p:cNvSpPr/>
          <p:nvPr/>
        </p:nvSpPr>
        <p:spPr>
          <a:xfrm>
            <a:off x="1476006" y="2210914"/>
            <a:ext cx="1428393" cy="1428393"/>
          </a:xfrm>
          <a:prstGeom prst="ellipse">
            <a:avLst/>
          </a:prstGeom>
          <a:solidFill>
            <a:srgbClr val="22AAEE"/>
          </a:solidFill>
        </p:spPr>
        <p:txBody>
          <a:bodyPr/>
          <a:lstStyle/>
          <a:p>
            <a:endParaRPr lang="en-US"/>
          </a:p>
        </p:txBody>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9716" y="2565223"/>
            <a:ext cx="733242" cy="723719"/>
          </a:xfrm>
          <a:prstGeom prst="rect">
            <a:avLst/>
          </a:prstGeom>
        </p:spPr>
      </p:pic>
      <p:sp>
        <p:nvSpPr>
          <p:cNvPr id="5" name="Object 4"/>
          <p:cNvSpPr/>
          <p:nvPr/>
        </p:nvSpPr>
        <p:spPr>
          <a:xfrm>
            <a:off x="378524" y="3735565"/>
            <a:ext cx="3613834" cy="533743"/>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Successfully built a React app with Firebase for auth and data</a:t>
            </a:r>
            <a:endParaRPr lang="en-US" dirty="0"/>
          </a:p>
        </p:txBody>
      </p:sp>
      <p:sp>
        <p:nvSpPr>
          <p:cNvPr id="6" name="Object 5"/>
          <p:cNvSpPr/>
          <p:nvPr/>
        </p:nvSpPr>
        <p:spPr>
          <a:xfrm>
            <a:off x="378524" y="4346520"/>
            <a:ext cx="3613834" cy="1056376"/>
          </a:xfrm>
          <a:prstGeom prst="rect">
            <a:avLst/>
          </a:prstGeom>
          <a:noFill/>
        </p:spPr>
        <p:txBody>
          <a:bodyPr wrap="square" lIns="0" tIns="0" rIns="0" bIns="0" rtlCol="0" anchor="t"/>
          <a:lstStyle/>
          <a:p>
            <a:pPr algn="ctr">
              <a:lnSpc>
                <a:spcPts val="2081"/>
              </a:lnSpc>
              <a:spcBef>
                <a:spcPts val="596"/>
              </a:spcBef>
              <a:buNone/>
            </a:pPr>
            <a:r>
              <a:rPr lang="en-US" sz="1500" kern="0" spc="-30" dirty="0">
                <a:solidFill>
                  <a:srgbClr val="FFFFFF">
                    <a:alpha val="80000"/>
                  </a:srgbClr>
                </a:solidFill>
                <a:latin typeface="Inter" pitchFamily="34" charset="0"/>
                <a:ea typeface="Inter" pitchFamily="34" charset="-122"/>
                <a:cs typeface="Inter" pitchFamily="34" charset="-120"/>
              </a:rPr>
              <a:t>The presentation shows the successful use of a React web application with Firebase for authentication and data management.</a:t>
            </a:r>
            <a:endParaRPr lang="en-US" dirty="0"/>
          </a:p>
        </p:txBody>
      </p:sp>
      <p:sp>
        <p:nvSpPr>
          <p:cNvPr id="7" name="Object 6"/>
          <p:cNvSpPr/>
          <p:nvPr/>
        </p:nvSpPr>
        <p:spPr>
          <a:xfrm>
            <a:off x="5380280" y="2210914"/>
            <a:ext cx="1428393" cy="1428393"/>
          </a:xfrm>
          <a:prstGeom prst="ellipse">
            <a:avLst/>
          </a:prstGeom>
          <a:solidFill>
            <a:srgbClr val="FFD9AD"/>
          </a:solidFill>
        </p:spPr>
        <p:txBody>
          <a:bodyPr/>
          <a:lstStyle/>
          <a:p>
            <a:endParaRPr lang="en-US"/>
          </a:p>
        </p:txBody>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68066" y="2598704"/>
            <a:ext cx="647538" cy="647538"/>
          </a:xfrm>
          <a:prstGeom prst="rect">
            <a:avLst/>
          </a:prstGeom>
        </p:spPr>
      </p:pic>
      <p:sp>
        <p:nvSpPr>
          <p:cNvPr id="9" name="Object 8"/>
          <p:cNvSpPr/>
          <p:nvPr/>
        </p:nvSpPr>
        <p:spPr>
          <a:xfrm>
            <a:off x="4387547" y="3735565"/>
            <a:ext cx="3404337" cy="26687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Implement more  admin features</a:t>
            </a:r>
            <a:endParaRPr lang="en-US" dirty="0"/>
          </a:p>
        </p:txBody>
      </p:sp>
      <p:sp>
        <p:nvSpPr>
          <p:cNvPr id="10" name="Object 9"/>
          <p:cNvSpPr/>
          <p:nvPr/>
        </p:nvSpPr>
        <p:spPr>
          <a:xfrm>
            <a:off x="4387547" y="4079649"/>
            <a:ext cx="3404337" cy="1056376"/>
          </a:xfrm>
          <a:prstGeom prst="rect">
            <a:avLst/>
          </a:prstGeom>
          <a:noFill/>
        </p:spPr>
        <p:txBody>
          <a:bodyPr wrap="square" lIns="0" tIns="0" rIns="0" bIns="0" rtlCol="0" anchor="t"/>
          <a:lstStyle/>
          <a:p>
            <a:pPr algn="ctr">
              <a:lnSpc>
                <a:spcPts val="2081"/>
              </a:lnSpc>
              <a:spcBef>
                <a:spcPts val="596"/>
              </a:spcBef>
              <a:buNone/>
            </a:pPr>
            <a:r>
              <a:rPr lang="en-US" sz="1500" kern="0" spc="-30" dirty="0">
                <a:solidFill>
                  <a:srgbClr val="FFFFFF">
                    <a:alpha val="80000"/>
                  </a:srgbClr>
                </a:solidFill>
                <a:latin typeface="Inter" pitchFamily="34" charset="0"/>
                <a:ea typeface="Inter" pitchFamily="34" charset="-122"/>
                <a:cs typeface="Inter" pitchFamily="34" charset="-120"/>
              </a:rPr>
              <a:t>Develop advanced administrative features to provide better control and management capabilities for the application.</a:t>
            </a:r>
            <a:endParaRPr lang="en-US" dirty="0"/>
          </a:p>
        </p:txBody>
      </p:sp>
      <p:sp>
        <p:nvSpPr>
          <p:cNvPr id="11" name="Object 10"/>
          <p:cNvSpPr/>
          <p:nvPr/>
        </p:nvSpPr>
        <p:spPr>
          <a:xfrm>
            <a:off x="9284553" y="2210914"/>
            <a:ext cx="1428393" cy="1428393"/>
          </a:xfrm>
          <a:prstGeom prst="ellipse">
            <a:avLst/>
          </a:prstGeom>
          <a:solidFill>
            <a:srgbClr val="FEC088"/>
          </a:solidFill>
        </p:spPr>
        <p:txBody>
          <a:bodyPr/>
          <a:lstStyle/>
          <a:p>
            <a:endParaRPr lang="en-US"/>
          </a:p>
        </p:txBody>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88650" y="2732617"/>
            <a:ext cx="828468" cy="399950"/>
          </a:xfrm>
          <a:prstGeom prst="rect">
            <a:avLst/>
          </a:prstGeom>
        </p:spPr>
      </p:pic>
      <p:sp>
        <p:nvSpPr>
          <p:cNvPr id="13" name="Object 12"/>
          <p:cNvSpPr/>
          <p:nvPr/>
        </p:nvSpPr>
        <p:spPr>
          <a:xfrm>
            <a:off x="8270871" y="3735565"/>
            <a:ext cx="3446236" cy="26687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Imrpove UI </a:t>
            </a:r>
            <a:endParaRPr lang="en-US" dirty="0"/>
          </a:p>
        </p:txBody>
      </p:sp>
      <p:sp>
        <p:nvSpPr>
          <p:cNvPr id="14" name="Object 13"/>
          <p:cNvSpPr/>
          <p:nvPr/>
        </p:nvSpPr>
        <p:spPr>
          <a:xfrm>
            <a:off x="8270871" y="4079649"/>
            <a:ext cx="3446236" cy="1056376"/>
          </a:xfrm>
          <a:prstGeom prst="rect">
            <a:avLst/>
          </a:prstGeom>
          <a:noFill/>
        </p:spPr>
        <p:txBody>
          <a:bodyPr wrap="square" lIns="0" tIns="0" rIns="0" bIns="0" rtlCol="0" anchor="t"/>
          <a:lstStyle/>
          <a:p>
            <a:pPr algn="ctr">
              <a:lnSpc>
                <a:spcPts val="2081"/>
              </a:lnSpc>
              <a:spcBef>
                <a:spcPts val="596"/>
              </a:spcBef>
              <a:buNone/>
            </a:pPr>
            <a:r>
              <a:rPr lang="en-US" sz="1500" kern="0" spc="-30" dirty="0">
                <a:solidFill>
                  <a:srgbClr val="FFFFFF">
                    <a:alpha val="80000"/>
                  </a:srgbClr>
                </a:solidFill>
                <a:latin typeface="Inter" pitchFamily="34" charset="0"/>
                <a:ea typeface="Inter" pitchFamily="34" charset="-122"/>
                <a:cs typeface="Inter" pitchFamily="34" charset="-120"/>
              </a:rPr>
              <a:t>Improve the user interface by Make incorporating smooth animations and transitions, as well as making the website usable on Mobile devices.</a:t>
            </a:r>
            <a:endParaRPr lang="en-US" dirty="0"/>
          </a:p>
        </p:txBody>
      </p:sp>
      <p:sp>
        <p:nvSpPr>
          <p:cNvPr id="15" name="Object 14"/>
          <p:cNvSpPr/>
          <p:nvPr/>
        </p:nvSpPr>
        <p:spPr>
          <a:xfrm>
            <a:off x="11846138" y="6497838"/>
            <a:ext cx="142839" cy="237669"/>
          </a:xfrm>
          <a:prstGeom prst="rect">
            <a:avLst/>
          </a:prstGeom>
          <a:noFill/>
        </p:spPr>
        <p:txBody>
          <a:bodyPr/>
          <a:lstStyle/>
          <a:p>
            <a:endParaRPr lang="en-US"/>
          </a:p>
        </p:txBody>
      </p:sp>
      <p:sp>
        <p:nvSpPr>
          <p:cNvPr id="25" name="Slide Number Placeholder 24"/>
          <p:cNvSpPr>
            <a:spLocks noGrp="1"/>
          </p:cNvSpPr>
          <p:nvPr>
            <p:ph type="sldNum" sz="quarter" idx="4294967295"/>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12</a:t>
            </a:fld>
            <a:endParaRPr lang="en-US"/>
          </a:p>
        </p:txBody>
      </p:sp>
      <p:sp>
        <p:nvSpPr>
          <p:cNvPr id="16" name="TextBox 15">
            <a:extLst>
              <a:ext uri="{FF2B5EF4-FFF2-40B4-BE49-F238E27FC236}">
                <a16:creationId xmlns:a16="http://schemas.microsoft.com/office/drawing/2014/main" id="{32A46220-F025-CB88-BDF0-97AFA5F38B19}"/>
              </a:ext>
            </a:extLst>
          </p:cNvPr>
          <p:cNvSpPr txBox="1"/>
          <p:nvPr/>
        </p:nvSpPr>
        <p:spPr>
          <a:xfrm>
            <a:off x="5236493" y="6246410"/>
            <a:ext cx="1706444" cy="461665"/>
          </a:xfrm>
          <a:prstGeom prst="rect">
            <a:avLst/>
          </a:prstGeom>
          <a:noFill/>
        </p:spPr>
        <p:txBody>
          <a:bodyPr wrap="square" rtlCol="0">
            <a:spAutoFit/>
          </a:bodyPr>
          <a:lstStyle/>
          <a:p>
            <a:r>
              <a:rPr lang="en-US" sz="2400" dirty="0">
                <a:hlinkClick r:id="rId9"/>
              </a:rPr>
              <a:t>React App</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476</Words>
  <Application>Microsoft Office PowerPoint</Application>
  <PresentationFormat>Widescreen</PresentationFormat>
  <Paragraphs>52</Paragraphs>
  <Slides>12</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Overview of My React App with Firebase Integration</dc:title>
  <dc:subject>Technical Overview of My React App with Firebase Integration</dc:subject>
  <dc:creator>Joshua Swanson</dc:creator>
  <cp:lastModifiedBy>Joshua Swanson27</cp:lastModifiedBy>
  <cp:revision>4</cp:revision>
  <dcterms:created xsi:type="dcterms:W3CDTF">2025-05-05T19:37:24Z</dcterms:created>
  <dcterms:modified xsi:type="dcterms:W3CDTF">2025-05-06T02:07:23Z</dcterms:modified>
</cp:coreProperties>
</file>