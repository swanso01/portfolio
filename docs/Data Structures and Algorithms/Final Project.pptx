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embeddedFontLst>
    <p:embeddedFont>
      <p:font typeface="Inter" panose="020B0604020202020204" charset="0"/>
      <p:regular r:id="rId17"/>
      <p:bold r:id="rId18"/>
      <p:italic r:id="rId19"/>
      <p:boldItalic r:id="rId20"/>
    </p:embeddedFont>
    <p:embeddedFont>
      <p:font typeface="Inter ExtraBold" panose="020B0604020202020204" charset="0"/>
      <p:bold r:id="rId21"/>
      <p:boldItalic r:id="rId22"/>
    </p:embeddedFont>
    <p:embeddedFont>
      <p:font typeface="Inter Light" panose="020B0604020202020204" charset="0"/>
      <p:regular r:id="rId23"/>
      <p:bold r:id="rId24"/>
      <p:italic r:id="rId25"/>
      <p:boldItalic r:id="rId26"/>
    </p:embeddedFont>
    <p:embeddedFont>
      <p:font typeface="Inter SemiBold" panose="020B0604020202020204" charset="0"/>
      <p:regular r:id="rId27"/>
      <p:bold r:id="rId28"/>
      <p:italic r:id="rId29"/>
      <p:boldItalic r:id="rId30"/>
    </p:embeddedFont>
    <p:embeddedFont>
      <p:font typeface="JetBrains Mono" panose="020B0604020202020204" charset="0"/>
      <p:regular r:id="rId31"/>
      <p:bold r:id="rId32"/>
      <p:italic r:id="rId33"/>
      <p:boldItalic r:id="rId34"/>
    </p:embeddedFont>
    <p:embeddedFont>
      <p:font typeface="JetBrains Mono Light" panose="020B060402020202020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686"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presProps" Target="presProps.xml"/><Relationship Id="rId21" Type="http://schemas.openxmlformats.org/officeDocument/2006/relationships/font" Target="fonts/font5.fntdata"/><Relationship Id="rId34" Type="http://schemas.openxmlformats.org/officeDocument/2006/relationships/font" Target="fonts/font18.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font" Target="fonts/font2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9" name="Google Shape;279;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8" name="Google Shape;298;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0" name="Google Shape;320;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6" name="Google Shape;346;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1" name="Google Shape;371;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png"/><Relationship Id="rId7" Type="http://schemas.openxmlformats.org/officeDocument/2006/relationships/image" Target="../media/image23.png"/><Relationship Id="rId12" Type="http://schemas.openxmlformats.org/officeDocument/2006/relationships/image" Target="../media/image28.png"/><Relationship Id="rId17" Type="http://schemas.openxmlformats.org/officeDocument/2006/relationships/image" Target="../media/image33.png"/><Relationship Id="rId2" Type="http://schemas.openxmlformats.org/officeDocument/2006/relationships/notesSlide" Target="../notesSlides/notesSlide8.xml"/><Relationship Id="rId16" Type="http://schemas.openxmlformats.org/officeDocument/2006/relationships/image" Target="../media/image32.pn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3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1.png"/><Relationship Id="rId7"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45.png"/></Relationships>
</file>

<file path=ppt/slides/_rels/slide12.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676275" y="5981700"/>
            <a:ext cx="10839450" cy="390525"/>
          </a:xfrm>
          <a:prstGeom prst="rect">
            <a:avLst/>
          </a:prstGeom>
          <a:noFill/>
          <a:ln>
            <a:noFill/>
          </a:ln>
        </p:spPr>
      </p:pic>
      <p:sp>
        <p:nvSpPr>
          <p:cNvPr id="86" name="Google Shape;86;p13"/>
          <p:cNvSpPr txBox="1"/>
          <p:nvPr/>
        </p:nvSpPr>
        <p:spPr>
          <a:xfrm>
            <a:off x="676275" y="2272754"/>
            <a:ext cx="11381422" cy="1340941"/>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4800" b="0" i="0" u="none" strike="noStrike" cap="none">
                <a:solidFill>
                  <a:srgbClr val="FFFFFF"/>
                </a:solidFill>
                <a:latin typeface="Inter ExtraBold"/>
                <a:ea typeface="Inter ExtraBold"/>
                <a:cs typeface="Inter ExtraBold"/>
                <a:sym typeface="Inter ExtraBold"/>
              </a:rPr>
              <a:t>Designing a </a:t>
            </a:r>
            <a:r>
              <a:rPr lang="en-US" sz="4800" b="0" i="0" u="none" strike="noStrike" cap="none">
                <a:solidFill>
                  <a:srgbClr val="4ADE80"/>
                </a:solidFill>
                <a:latin typeface="Inter ExtraBold"/>
                <a:ea typeface="Inter ExtraBold"/>
                <a:cs typeface="Inter ExtraBold"/>
                <a:sym typeface="Inter ExtraBold"/>
              </a:rPr>
              <a:t>Real-Time</a:t>
            </a:r>
            <a:br>
              <a:rPr lang="en-US" sz="1800" b="0" i="0" u="none" strike="noStrike" cap="none">
                <a:solidFill>
                  <a:schemeClr val="dk1"/>
                </a:solidFill>
                <a:latin typeface="Calibri"/>
                <a:ea typeface="Calibri"/>
                <a:cs typeface="Calibri"/>
                <a:sym typeface="Calibri"/>
              </a:rPr>
            </a:br>
            <a:r>
              <a:rPr lang="en-US" sz="4800" b="0" i="0" u="none" strike="noStrike" cap="none">
                <a:solidFill>
                  <a:srgbClr val="FFFFFF"/>
                </a:solidFill>
                <a:latin typeface="Inter ExtraBold"/>
                <a:ea typeface="Inter ExtraBold"/>
                <a:cs typeface="Inter ExtraBold"/>
                <a:sym typeface="Inter ExtraBold"/>
              </a:rPr>
              <a:t> Leaderboard System</a:t>
            </a:r>
            <a:endParaRPr/>
          </a:p>
        </p:txBody>
      </p:sp>
      <p:sp>
        <p:nvSpPr>
          <p:cNvPr id="87" name="Google Shape;87;p13"/>
          <p:cNvSpPr txBox="1"/>
          <p:nvPr/>
        </p:nvSpPr>
        <p:spPr>
          <a:xfrm>
            <a:off x="676275" y="3994695"/>
            <a:ext cx="7620000" cy="2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a:solidFill>
                  <a:srgbClr val="D4D4D4"/>
                </a:solidFill>
                <a:latin typeface="Inter Light"/>
                <a:ea typeface="Inter Light"/>
                <a:cs typeface="Inter Light"/>
                <a:sym typeface="Inter Light"/>
              </a:rPr>
              <a:t>Ranking </a:t>
            </a:r>
            <a:r>
              <a:rPr lang="en-US" sz="1800" b="0" i="0" u="none" strike="noStrike" cap="none">
                <a:solidFill>
                  <a:srgbClr val="D4D4D4"/>
                </a:solidFill>
                <a:latin typeface="Inter Light"/>
                <a:ea typeface="Inter Light"/>
                <a:cs typeface="Inter Light"/>
                <a:sym typeface="Inter Light"/>
              </a:rPr>
              <a:t>millions of players instantl</a:t>
            </a:r>
            <a:r>
              <a:rPr lang="en-US" sz="1800">
                <a:solidFill>
                  <a:srgbClr val="D4D4D4"/>
                </a:solidFill>
                <a:latin typeface="Inter Light"/>
                <a:ea typeface="Inter Light"/>
                <a:cs typeface="Inter Light"/>
                <a:sym typeface="Inter Light"/>
              </a:rPr>
              <a:t>y</a:t>
            </a:r>
            <a:r>
              <a:rPr lang="en-US" sz="1800" b="0" i="0" u="none" strike="noStrike" cap="none">
                <a:solidFill>
                  <a:srgbClr val="D4D4D4"/>
                </a:solidFill>
                <a:latin typeface="Inter Light"/>
                <a:ea typeface="Inter Light"/>
                <a:cs typeface="Inter Light"/>
                <a:sym typeface="Inter Light"/>
              </a:rPr>
              <a:t>.</a:t>
            </a:r>
            <a:endParaRPr/>
          </a:p>
        </p:txBody>
      </p:sp>
      <p:sp>
        <p:nvSpPr>
          <p:cNvPr id="88" name="Google Shape;88;p13"/>
          <p:cNvSpPr txBox="1"/>
          <p:nvPr/>
        </p:nvSpPr>
        <p:spPr>
          <a:xfrm>
            <a:off x="676275" y="6181725"/>
            <a:ext cx="1895400"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666666"/>
                </a:solidFill>
                <a:latin typeface="Inter"/>
                <a:ea typeface="Inter"/>
                <a:cs typeface="Inter"/>
                <a:sym typeface="Inter"/>
              </a:rPr>
              <a:t>CSCI 236: Data Structures</a:t>
            </a:r>
            <a:endParaRPr/>
          </a:p>
        </p:txBody>
      </p:sp>
      <p:sp>
        <p:nvSpPr>
          <p:cNvPr id="89" name="Google Shape;89;p13"/>
          <p:cNvSpPr txBox="1"/>
          <p:nvPr/>
        </p:nvSpPr>
        <p:spPr>
          <a:xfrm>
            <a:off x="10839450" y="6181725"/>
            <a:ext cx="676275"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666666"/>
                </a:solidFill>
                <a:latin typeface="Inter"/>
                <a:ea typeface="Inter"/>
                <a:cs typeface="Inter"/>
                <a:sym typeface="Inter"/>
              </a:rPr>
              <a:t>Fall 2025</a:t>
            </a:r>
            <a:endParaRPr/>
          </a:p>
        </p:txBody>
      </p:sp>
      <p:sp>
        <p:nvSpPr>
          <p:cNvPr id="90" name="Google Shape;90;p13"/>
          <p:cNvSpPr txBox="1"/>
          <p:nvPr/>
        </p:nvSpPr>
        <p:spPr>
          <a:xfrm>
            <a:off x="5451150" y="6184575"/>
            <a:ext cx="12897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666666"/>
                </a:solidFill>
                <a:latin typeface="Inter"/>
                <a:ea typeface="Inter"/>
                <a:cs typeface="Inter"/>
                <a:sym typeface="Inter"/>
              </a:rPr>
              <a:t>Joshua Swanson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Shape 94"/>
        <p:cNvGrpSpPr/>
        <p:nvPr/>
      </p:nvGrpSpPr>
      <p:grpSpPr>
        <a:xfrm>
          <a:off x="0" y="0"/>
          <a:ext cx="0" cy="0"/>
          <a:chOff x="0" y="0"/>
          <a:chExt cx="0" cy="0"/>
        </a:xfrm>
      </p:grpSpPr>
      <p:pic>
        <p:nvPicPr>
          <p:cNvPr id="95" name="Google Shape;95;p14" descr="image.png"/>
          <p:cNvPicPr preferRelativeResize="0"/>
          <p:nvPr/>
        </p:nvPicPr>
        <p:blipFill rotWithShape="1">
          <a:blip r:embed="rId3">
            <a:alphaModFix/>
          </a:blip>
          <a:srcRect/>
          <a:stretch/>
        </p:blipFill>
        <p:spPr>
          <a:xfrm>
            <a:off x="0" y="-13648"/>
            <a:ext cx="12192000" cy="6858000"/>
          </a:xfrm>
          <a:prstGeom prst="rect">
            <a:avLst/>
          </a:prstGeom>
          <a:noFill/>
          <a:ln>
            <a:noFill/>
          </a:ln>
        </p:spPr>
      </p:pic>
      <p:pic>
        <p:nvPicPr>
          <p:cNvPr id="96" name="Google Shape;96;p14" descr="image.png"/>
          <p:cNvPicPr preferRelativeResize="0"/>
          <p:nvPr/>
        </p:nvPicPr>
        <p:blipFill rotWithShape="1">
          <a:blip r:embed="rId4">
            <a:alphaModFix/>
          </a:blip>
          <a:srcRect/>
          <a:stretch/>
        </p:blipFill>
        <p:spPr>
          <a:xfrm>
            <a:off x="676238" y="2928937"/>
            <a:ext cx="5133974" cy="2752725"/>
          </a:xfrm>
          <a:prstGeom prst="rect">
            <a:avLst/>
          </a:prstGeom>
          <a:noFill/>
          <a:ln>
            <a:noFill/>
          </a:ln>
        </p:spPr>
      </p:pic>
      <p:sp>
        <p:nvSpPr>
          <p:cNvPr id="97" name="Google Shape;97;p14"/>
          <p:cNvSpPr txBox="1"/>
          <p:nvPr/>
        </p:nvSpPr>
        <p:spPr>
          <a:xfrm>
            <a:off x="676275" y="485775"/>
            <a:ext cx="113814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FFFFF"/>
                </a:solidFill>
                <a:latin typeface="Inter"/>
                <a:ea typeface="Inter"/>
                <a:cs typeface="Inter"/>
                <a:sym typeface="Inter"/>
              </a:rPr>
              <a:t>The Challenge: Need</a:t>
            </a:r>
            <a:r>
              <a:rPr lang="en-US" sz="3000" b="1">
                <a:solidFill>
                  <a:srgbClr val="FFFFFF"/>
                </a:solidFill>
                <a:latin typeface="Inter"/>
                <a:ea typeface="Inter"/>
                <a:cs typeface="Inter"/>
                <a:sym typeface="Inter"/>
              </a:rPr>
              <a:t>s to be FAST</a:t>
            </a:r>
            <a:endParaRPr/>
          </a:p>
        </p:txBody>
      </p:sp>
      <p:sp>
        <p:nvSpPr>
          <p:cNvPr id="98" name="Google Shape;98;p14"/>
          <p:cNvSpPr/>
          <p:nvPr/>
        </p:nvSpPr>
        <p:spPr>
          <a:xfrm>
            <a:off x="676275" y="1095375"/>
            <a:ext cx="1083945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9" name="Google Shape;99;p14"/>
          <p:cNvSpPr txBox="1"/>
          <p:nvPr/>
        </p:nvSpPr>
        <p:spPr>
          <a:xfrm>
            <a:off x="676275" y="1352550"/>
            <a:ext cx="5133900" cy="15351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Online gaming platforms process millions of events per second. The </a:t>
            </a:r>
            <a:r>
              <a:rPr lang="en-US" sz="1425">
                <a:solidFill>
                  <a:srgbClr val="D4D4D4"/>
                </a:solidFill>
                <a:latin typeface="Inter Light"/>
                <a:ea typeface="Inter Light"/>
                <a:cs typeface="Inter Light"/>
                <a:sym typeface="Inter Light"/>
              </a:rPr>
              <a:t>main </a:t>
            </a:r>
            <a:r>
              <a:rPr lang="en-US" sz="1425" b="0" i="0" u="none" strike="noStrike" cap="none">
                <a:solidFill>
                  <a:srgbClr val="D4D4D4"/>
                </a:solidFill>
                <a:latin typeface="Inter Light"/>
                <a:ea typeface="Inter Light"/>
                <a:cs typeface="Inter Light"/>
                <a:sym typeface="Inter Light"/>
              </a:rPr>
              <a:t>engineering challenge is not just storing </a:t>
            </a:r>
            <a:r>
              <a:rPr lang="en-US" sz="1425">
                <a:solidFill>
                  <a:srgbClr val="D4D4D4"/>
                </a:solidFill>
                <a:latin typeface="Inter Light"/>
                <a:ea typeface="Inter Light"/>
                <a:cs typeface="Inter Light"/>
                <a:sym typeface="Inter Light"/>
              </a:rPr>
              <a:t>scores but</a:t>
            </a:r>
            <a:r>
              <a:rPr lang="en-US" sz="1425" b="0" i="0" u="none" strike="noStrike" cap="none">
                <a:solidFill>
                  <a:srgbClr val="D4D4D4"/>
                </a:solidFill>
                <a:latin typeface="Inter Light"/>
                <a:ea typeface="Inter Light"/>
                <a:cs typeface="Inter Light"/>
                <a:sym typeface="Inter Light"/>
              </a:rPr>
              <a:t> </a:t>
            </a:r>
            <a:r>
              <a:rPr lang="en-US" sz="1425" b="0" i="0" u="none" strike="noStrike" cap="none">
                <a:solidFill>
                  <a:srgbClr val="FFFFFF"/>
                </a:solidFill>
                <a:latin typeface="Inter SemiBold"/>
                <a:ea typeface="Inter SemiBold"/>
                <a:cs typeface="Inter SemiBold"/>
                <a:sym typeface="Inter SemiBold"/>
              </a:rPr>
              <a:t>ranking</a:t>
            </a:r>
            <a:r>
              <a:rPr lang="en-US" sz="1425" b="0" i="0" u="none" strike="noStrike" cap="none">
                <a:solidFill>
                  <a:srgbClr val="D4D4D4"/>
                </a:solidFill>
                <a:latin typeface="Inter Light"/>
                <a:ea typeface="Inter Light"/>
                <a:cs typeface="Inter Light"/>
                <a:sym typeface="Inter Light"/>
              </a:rPr>
              <a:t> them instantly. A "Real-Time" system is defined by its ability to reflect a state change (a new high score) in the global view within milliseconds.</a:t>
            </a:r>
            <a:endParaRPr/>
          </a:p>
        </p:txBody>
      </p:sp>
      <p:sp>
        <p:nvSpPr>
          <p:cNvPr id="100" name="Google Shape;100;p14"/>
          <p:cNvSpPr txBox="1"/>
          <p:nvPr/>
        </p:nvSpPr>
        <p:spPr>
          <a:xfrm>
            <a:off x="6381750" y="1352550"/>
            <a:ext cx="5133900" cy="8772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a:t>
            </a:r>
            <a:r>
              <a:rPr lang="en-US" sz="1425">
                <a:solidFill>
                  <a:srgbClr val="D4D4D4"/>
                </a:solidFill>
                <a:latin typeface="Inter Light"/>
                <a:ea typeface="Inter Light"/>
                <a:cs typeface="Inter Light"/>
                <a:sym typeface="Inter Light"/>
              </a:rPr>
              <a:t>n </a:t>
            </a:r>
            <a:r>
              <a:rPr lang="en-US" sz="1425" b="0" i="0" u="none" strike="noStrike" cap="none">
                <a:solidFill>
                  <a:srgbClr val="D4D4D4"/>
                </a:solidFill>
                <a:latin typeface="Inter Light"/>
                <a:ea typeface="Inter Light"/>
                <a:cs typeface="Inter Light"/>
                <a:sym typeface="Inter Light"/>
              </a:rPr>
              <a:t>approach like an unsorted list fails because finding a rank requires scanning every player, which is</a:t>
            </a:r>
            <a:r>
              <a:rPr lang="en-US" sz="1425">
                <a:solidFill>
                  <a:srgbClr val="D4D4D4"/>
                </a:solidFill>
                <a:latin typeface="Inter Light"/>
                <a:ea typeface="Inter Light"/>
                <a:cs typeface="Inter Light"/>
                <a:sym typeface="Inter Light"/>
              </a:rPr>
              <a:t>            </a:t>
            </a:r>
            <a:r>
              <a:rPr lang="en-US" sz="1425" b="0" i="0" u="none" strike="noStrike" cap="none">
                <a:solidFill>
                  <a:srgbClr val="D4D4D4"/>
                </a:solidFill>
                <a:latin typeface="Inter Light"/>
                <a:ea typeface="Inter Light"/>
                <a:cs typeface="Inter Light"/>
                <a:sym typeface="Inter Light"/>
              </a:rPr>
              <a:t>. Sorting the whole list on every update is even worse at</a:t>
            </a:r>
            <a:endParaRPr/>
          </a:p>
        </p:txBody>
      </p:sp>
      <p:sp>
        <p:nvSpPr>
          <p:cNvPr id="101" name="Google Shape;101;p14"/>
          <p:cNvSpPr txBox="1"/>
          <p:nvPr/>
        </p:nvSpPr>
        <p:spPr>
          <a:xfrm>
            <a:off x="6267450" y="3626650"/>
            <a:ext cx="5133900" cy="1644681"/>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dirty="0">
                <a:solidFill>
                  <a:srgbClr val="D4D4D4"/>
                </a:solidFill>
                <a:latin typeface="Inter Light"/>
                <a:ea typeface="Inter Light"/>
                <a:cs typeface="Inter Light"/>
                <a:sym typeface="Inter Light"/>
              </a:rPr>
              <a:t>As the player base grows </a:t>
            </a:r>
            <a:r>
              <a:rPr lang="en-US" sz="1425" dirty="0">
                <a:solidFill>
                  <a:srgbClr val="D4D4D4"/>
                </a:solidFill>
                <a:latin typeface="Inter Light"/>
                <a:ea typeface="Inter Light"/>
                <a:cs typeface="Inter Light"/>
                <a:sym typeface="Inter Light"/>
              </a:rPr>
              <a:t>(N→∞),</a:t>
            </a:r>
            <a:r>
              <a:rPr lang="en-US" sz="1425" b="0" i="0" u="none" strike="noStrike" cap="none" dirty="0">
                <a:solidFill>
                  <a:srgbClr val="D4D4D4"/>
                </a:solidFill>
                <a:latin typeface="Inter Light"/>
                <a:ea typeface="Inter Light"/>
                <a:cs typeface="Inter Light"/>
                <a:sym typeface="Inter Light"/>
              </a:rPr>
              <a:t> linear operations become too slow. We need a system where operations take </a:t>
            </a:r>
            <a:r>
              <a:rPr lang="en-US" sz="1425" dirty="0">
                <a:solidFill>
                  <a:srgbClr val="D4D4D4"/>
                </a:solidFill>
                <a:latin typeface="Inter Light"/>
                <a:ea typeface="Inter Light"/>
                <a:cs typeface="Inter Light"/>
                <a:sym typeface="Inter Light"/>
              </a:rPr>
              <a:t>                          </a:t>
            </a:r>
            <a:r>
              <a:rPr lang="en-US" sz="1425" b="0" i="0" u="none" strike="noStrike" cap="none" dirty="0">
                <a:solidFill>
                  <a:srgbClr val="D4D4D4"/>
                </a:solidFill>
                <a:latin typeface="Inter Light"/>
                <a:ea typeface="Inter Light"/>
                <a:cs typeface="Inter Light"/>
                <a:sym typeface="Inter Light"/>
              </a:rPr>
              <a:t>time (small steps), ensuring performance remains stable even as the player base grows exponentially.</a:t>
            </a:r>
            <a:endParaRPr dirty="0"/>
          </a:p>
        </p:txBody>
      </p:sp>
      <p:sp>
        <p:nvSpPr>
          <p:cNvPr id="102" name="Google Shape;102;p14"/>
          <p:cNvSpPr txBox="1"/>
          <p:nvPr/>
        </p:nvSpPr>
        <p:spPr>
          <a:xfrm>
            <a:off x="876300" y="3052762"/>
            <a:ext cx="49707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a:solidFill>
                  <a:srgbClr val="FFFFFF"/>
                </a:solidFill>
                <a:latin typeface="Inter SemiBold"/>
                <a:ea typeface="Inter SemiBold"/>
                <a:cs typeface="Inter SemiBold"/>
                <a:sym typeface="Inter SemiBold"/>
              </a:rPr>
              <a:t>MAIN </a:t>
            </a:r>
            <a:r>
              <a:rPr lang="en-US" sz="1350" b="0" i="0" u="none" strike="noStrike" cap="none">
                <a:solidFill>
                  <a:srgbClr val="FFFFFF"/>
                </a:solidFill>
                <a:latin typeface="Inter SemiBold"/>
                <a:ea typeface="Inter SemiBold"/>
                <a:cs typeface="Inter SemiBold"/>
                <a:sym typeface="Inter SemiBold"/>
              </a:rPr>
              <a:t>Constraints</a:t>
            </a:r>
            <a:endParaRPr/>
          </a:p>
        </p:txBody>
      </p:sp>
      <p:pic>
        <p:nvPicPr>
          <p:cNvPr id="103" name="Google Shape;103;p14" descr="image.png"/>
          <p:cNvPicPr preferRelativeResize="0"/>
          <p:nvPr/>
        </p:nvPicPr>
        <p:blipFill rotWithShape="1">
          <a:blip r:embed="rId5">
            <a:alphaModFix/>
          </a:blip>
          <a:srcRect/>
          <a:stretch/>
        </p:blipFill>
        <p:spPr>
          <a:xfrm>
            <a:off x="10346900" y="1743975"/>
            <a:ext cx="495300" cy="247650"/>
          </a:xfrm>
          <a:prstGeom prst="rect">
            <a:avLst/>
          </a:prstGeom>
          <a:noFill/>
          <a:ln>
            <a:noFill/>
          </a:ln>
        </p:spPr>
      </p:pic>
      <p:pic>
        <p:nvPicPr>
          <p:cNvPr id="104" name="Google Shape;104;p14" descr="image.png"/>
          <p:cNvPicPr preferRelativeResize="0"/>
          <p:nvPr/>
        </p:nvPicPr>
        <p:blipFill rotWithShape="1">
          <a:blip r:embed="rId6">
            <a:alphaModFix/>
          </a:blip>
          <a:srcRect/>
          <a:stretch/>
        </p:blipFill>
        <p:spPr>
          <a:xfrm>
            <a:off x="6381750" y="2387500"/>
            <a:ext cx="1066800" cy="247650"/>
          </a:xfrm>
          <a:prstGeom prst="rect">
            <a:avLst/>
          </a:prstGeom>
          <a:noFill/>
          <a:ln>
            <a:noFill/>
          </a:ln>
        </p:spPr>
      </p:pic>
      <p:pic>
        <p:nvPicPr>
          <p:cNvPr id="105" name="Google Shape;105;p14" descr="image.png"/>
          <p:cNvPicPr preferRelativeResize="0"/>
          <p:nvPr/>
        </p:nvPicPr>
        <p:blipFill rotWithShape="1">
          <a:blip r:embed="rId7">
            <a:alphaModFix/>
          </a:blip>
          <a:srcRect/>
          <a:stretch/>
        </p:blipFill>
        <p:spPr>
          <a:xfrm>
            <a:off x="6676883" y="4378740"/>
            <a:ext cx="1162050" cy="247650"/>
          </a:xfrm>
          <a:prstGeom prst="rect">
            <a:avLst/>
          </a:prstGeom>
          <a:noFill/>
          <a:ln>
            <a:noFill/>
          </a:ln>
        </p:spPr>
      </p:pic>
      <p:sp>
        <p:nvSpPr>
          <p:cNvPr id="106" name="Google Shape;106;p14"/>
          <p:cNvSpPr txBox="1"/>
          <p:nvPr/>
        </p:nvSpPr>
        <p:spPr>
          <a:xfrm>
            <a:off x="962025" y="3345656"/>
            <a:ext cx="1047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t>
            </a:r>
            <a:endParaRPr/>
          </a:p>
        </p:txBody>
      </p:sp>
      <p:sp>
        <p:nvSpPr>
          <p:cNvPr id="107" name="Google Shape;107;p14"/>
          <p:cNvSpPr txBox="1"/>
          <p:nvPr/>
        </p:nvSpPr>
        <p:spPr>
          <a:xfrm>
            <a:off x="1066800" y="3348037"/>
            <a:ext cx="4543500" cy="548400"/>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FFFFFF"/>
                </a:solidFill>
                <a:latin typeface="Inter SemiBold"/>
                <a:ea typeface="Inter SemiBold"/>
                <a:cs typeface="Inter SemiBold"/>
                <a:sym typeface="Inter SemiBold"/>
              </a:rPr>
              <a:t>Speed (Latency):</a:t>
            </a:r>
            <a:r>
              <a:rPr lang="en-US" sz="1425" b="0" i="0" u="none" strike="noStrike" cap="none">
                <a:solidFill>
                  <a:srgbClr val="D4D4D4"/>
                </a:solidFill>
                <a:latin typeface="Inter Light"/>
                <a:ea typeface="Inter Light"/>
                <a:cs typeface="Inter Light"/>
                <a:sym typeface="Inter Light"/>
              </a:rPr>
              <a:t> Updates must be visible immediately </a:t>
            </a:r>
            <a:r>
              <a:rPr lang="en-US" sz="1425">
                <a:solidFill>
                  <a:srgbClr val="D4D4D4"/>
                </a:solidFill>
                <a:latin typeface="Inter Light"/>
                <a:ea typeface="Inter Light"/>
                <a:cs typeface="Inter Light"/>
                <a:sym typeface="Inter Light"/>
              </a:rPr>
              <a:t>(sub-100 ms).</a:t>
            </a:r>
            <a:endParaRPr/>
          </a:p>
        </p:txBody>
      </p:sp>
      <p:sp>
        <p:nvSpPr>
          <p:cNvPr id="108" name="Google Shape;108;p14"/>
          <p:cNvSpPr txBox="1"/>
          <p:nvPr/>
        </p:nvSpPr>
        <p:spPr>
          <a:xfrm>
            <a:off x="962025" y="4031456"/>
            <a:ext cx="1047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t>
            </a:r>
            <a:endParaRPr/>
          </a:p>
        </p:txBody>
      </p:sp>
      <p:sp>
        <p:nvSpPr>
          <p:cNvPr id="109" name="Google Shape;109;p14"/>
          <p:cNvSpPr txBox="1"/>
          <p:nvPr/>
        </p:nvSpPr>
        <p:spPr>
          <a:xfrm>
            <a:off x="1066800" y="4033837"/>
            <a:ext cx="4543425" cy="542925"/>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FFFFFF"/>
                </a:solidFill>
                <a:latin typeface="Inter SemiBold"/>
                <a:ea typeface="Inter SemiBold"/>
                <a:cs typeface="Inter SemiBold"/>
                <a:sym typeface="Inter SemiBold"/>
              </a:rPr>
              <a:t>Growth (Scale):</a:t>
            </a:r>
            <a:r>
              <a:rPr lang="en-US" sz="1425" b="0" i="0" u="none" strike="noStrike" cap="none">
                <a:solidFill>
                  <a:srgbClr val="D4D4D4"/>
                </a:solidFill>
                <a:latin typeface="Inter Light"/>
                <a:ea typeface="Inter Light"/>
                <a:cs typeface="Inter Light"/>
                <a:sym typeface="Inter Light"/>
              </a:rPr>
              <a:t> Must handle 10M+ concurrent players.</a:t>
            </a:r>
            <a:endParaRPr/>
          </a:p>
        </p:txBody>
      </p:sp>
      <p:sp>
        <p:nvSpPr>
          <p:cNvPr id="110" name="Google Shape;110;p14"/>
          <p:cNvSpPr txBox="1"/>
          <p:nvPr/>
        </p:nvSpPr>
        <p:spPr>
          <a:xfrm>
            <a:off x="962025" y="4717256"/>
            <a:ext cx="1047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t>
            </a:r>
            <a:endParaRPr/>
          </a:p>
        </p:txBody>
      </p:sp>
      <p:sp>
        <p:nvSpPr>
          <p:cNvPr id="111" name="Google Shape;111;p14"/>
          <p:cNvSpPr txBox="1"/>
          <p:nvPr/>
        </p:nvSpPr>
        <p:spPr>
          <a:xfrm>
            <a:off x="1066800" y="4719637"/>
            <a:ext cx="4543425" cy="542925"/>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FFFFFF"/>
                </a:solidFill>
                <a:latin typeface="Inter SemiBold"/>
                <a:ea typeface="Inter SemiBold"/>
                <a:cs typeface="Inter SemiBold"/>
                <a:sym typeface="Inter SemiBold"/>
              </a:rPr>
              <a:t>Accuracy:</a:t>
            </a:r>
            <a:r>
              <a:rPr lang="en-US" sz="1425" b="0" i="0" u="none" strike="noStrike" cap="none">
                <a:solidFill>
                  <a:srgbClr val="D4D4D4"/>
                </a:solidFill>
                <a:latin typeface="Inter Light"/>
                <a:ea typeface="Inter Light"/>
                <a:cs typeface="Inter Light"/>
                <a:sym typeface="Inter Light"/>
              </a:rPr>
              <a:t> No caching "ghosts"; rank must be accurate.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Shape 115"/>
        <p:cNvGrpSpPr/>
        <p:nvPr/>
      </p:nvGrpSpPr>
      <p:grpSpPr>
        <a:xfrm>
          <a:off x="0" y="0"/>
          <a:ext cx="0" cy="0"/>
          <a:chOff x="0" y="0"/>
          <a:chExt cx="0" cy="0"/>
        </a:xfrm>
      </p:grpSpPr>
      <p:pic>
        <p:nvPicPr>
          <p:cNvPr id="116" name="Google Shape;116;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7" name="Google Shape;117;p15" descr="image.png"/>
          <p:cNvPicPr preferRelativeResize="0"/>
          <p:nvPr/>
        </p:nvPicPr>
        <p:blipFill rotWithShape="1">
          <a:blip r:embed="rId4">
            <a:alphaModFix/>
          </a:blip>
          <a:srcRect/>
          <a:stretch/>
        </p:blipFill>
        <p:spPr>
          <a:xfrm>
            <a:off x="676275" y="2276475"/>
            <a:ext cx="3422600" cy="4095750"/>
          </a:xfrm>
          <a:prstGeom prst="rect">
            <a:avLst/>
          </a:prstGeom>
          <a:noFill/>
          <a:ln>
            <a:noFill/>
          </a:ln>
        </p:spPr>
      </p:pic>
      <p:pic>
        <p:nvPicPr>
          <p:cNvPr id="118" name="Google Shape;118;p15" descr="image.png"/>
          <p:cNvPicPr preferRelativeResize="0"/>
          <p:nvPr/>
        </p:nvPicPr>
        <p:blipFill rotWithShape="1">
          <a:blip r:embed="rId5">
            <a:alphaModFix/>
          </a:blip>
          <a:srcRect/>
          <a:stretch/>
        </p:blipFill>
        <p:spPr>
          <a:xfrm>
            <a:off x="4384625" y="2276475"/>
            <a:ext cx="3422600" cy="4095750"/>
          </a:xfrm>
          <a:prstGeom prst="rect">
            <a:avLst/>
          </a:prstGeom>
          <a:noFill/>
          <a:ln>
            <a:noFill/>
          </a:ln>
        </p:spPr>
      </p:pic>
      <p:pic>
        <p:nvPicPr>
          <p:cNvPr id="119" name="Google Shape;119;p15" descr="image.png"/>
          <p:cNvPicPr preferRelativeResize="0"/>
          <p:nvPr/>
        </p:nvPicPr>
        <p:blipFill rotWithShape="1">
          <a:blip r:embed="rId6">
            <a:alphaModFix/>
          </a:blip>
          <a:srcRect/>
          <a:stretch/>
        </p:blipFill>
        <p:spPr>
          <a:xfrm>
            <a:off x="8092975" y="2276475"/>
            <a:ext cx="3422749" cy="4095750"/>
          </a:xfrm>
          <a:prstGeom prst="rect">
            <a:avLst/>
          </a:prstGeom>
          <a:noFill/>
          <a:ln>
            <a:noFill/>
          </a:ln>
        </p:spPr>
      </p:pic>
      <p:sp>
        <p:nvSpPr>
          <p:cNvPr id="120" name="Google Shape;120;p15"/>
          <p:cNvSpPr txBox="1"/>
          <p:nvPr/>
        </p:nvSpPr>
        <p:spPr>
          <a:xfrm>
            <a:off x="676275" y="485775"/>
            <a:ext cx="11381400" cy="485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FFFFF"/>
                </a:solidFill>
                <a:latin typeface="Inter"/>
                <a:ea typeface="Inter"/>
                <a:cs typeface="Inter"/>
                <a:sym typeface="Inter"/>
              </a:rPr>
              <a:t>The Solution: Combining Tools</a:t>
            </a:r>
            <a:endParaRPr/>
          </a:p>
        </p:txBody>
      </p:sp>
      <p:sp>
        <p:nvSpPr>
          <p:cNvPr id="121" name="Google Shape;121;p15"/>
          <p:cNvSpPr/>
          <p:nvPr/>
        </p:nvSpPr>
        <p:spPr>
          <a:xfrm>
            <a:off x="676275" y="1095375"/>
            <a:ext cx="1083945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2" name="Google Shape;122;p15"/>
          <p:cNvSpPr txBox="1"/>
          <p:nvPr/>
        </p:nvSpPr>
        <p:spPr>
          <a:xfrm>
            <a:off x="676275" y="1352550"/>
            <a:ext cx="8572500" cy="2193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To achieve both fast lookups and fast ranking, the system combines three data structures</a:t>
            </a:r>
            <a:r>
              <a:rPr lang="en-US" sz="1425">
                <a:solidFill>
                  <a:srgbClr val="D4D4D4"/>
                </a:solidFill>
                <a:latin typeface="Inter Light"/>
                <a:ea typeface="Inter Light"/>
                <a:cs typeface="Inter Light"/>
                <a:sym typeface="Inter Light"/>
              </a:rPr>
              <a:t>.</a:t>
            </a:r>
            <a:endParaRPr/>
          </a:p>
        </p:txBody>
      </p:sp>
      <p:pic>
        <p:nvPicPr>
          <p:cNvPr id="123" name="Google Shape;123;p15" descr="image.png"/>
          <p:cNvPicPr preferRelativeResize="0"/>
          <p:nvPr/>
        </p:nvPicPr>
        <p:blipFill rotWithShape="1">
          <a:blip r:embed="rId7">
            <a:alphaModFix/>
          </a:blip>
          <a:srcRect/>
          <a:stretch/>
        </p:blipFill>
        <p:spPr>
          <a:xfrm>
            <a:off x="923925" y="2524125"/>
            <a:ext cx="2927300" cy="304800"/>
          </a:xfrm>
          <a:prstGeom prst="rect">
            <a:avLst/>
          </a:prstGeom>
          <a:noFill/>
          <a:ln>
            <a:noFill/>
          </a:ln>
        </p:spPr>
      </p:pic>
      <p:sp>
        <p:nvSpPr>
          <p:cNvPr id="124" name="Google Shape;124;p15"/>
          <p:cNvSpPr txBox="1"/>
          <p:nvPr/>
        </p:nvSpPr>
        <p:spPr>
          <a:xfrm>
            <a:off x="923925" y="2971800"/>
            <a:ext cx="3073665"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4ADE80"/>
                </a:solidFill>
                <a:latin typeface="Inter SemiBold"/>
                <a:ea typeface="Inter SemiBold"/>
                <a:cs typeface="Inter SemiBold"/>
                <a:sym typeface="Inter SemiBold"/>
              </a:rPr>
              <a:t>1. Hash Map</a:t>
            </a:r>
            <a:endParaRPr/>
          </a:p>
        </p:txBody>
      </p:sp>
      <p:sp>
        <p:nvSpPr>
          <p:cNvPr id="125" name="Google Shape;125;p15"/>
          <p:cNvSpPr txBox="1"/>
          <p:nvPr/>
        </p:nvSpPr>
        <p:spPr>
          <a:xfrm>
            <a:off x="923925" y="3314700"/>
            <a:ext cx="29273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FFFFFF"/>
                </a:solidFill>
                <a:latin typeface="Inter SemiBold"/>
                <a:ea typeface="Inter SemiBold"/>
                <a:cs typeface="Inter SemiBold"/>
                <a:sym typeface="Inter SemiBold"/>
              </a:rPr>
              <a:t>Common Name:</a:t>
            </a:r>
            <a:r>
              <a:rPr lang="en-US" sz="1425" b="0" i="0" u="none" strike="noStrike" cap="none">
                <a:solidFill>
                  <a:srgbClr val="D4D4D4"/>
                </a:solidFill>
                <a:latin typeface="Inter Light"/>
                <a:ea typeface="Inter Light"/>
                <a:cs typeface="Inter Light"/>
                <a:sym typeface="Inter Light"/>
              </a:rPr>
              <a:t> Address Book</a:t>
            </a:r>
            <a:endParaRPr/>
          </a:p>
        </p:txBody>
      </p:sp>
      <p:sp>
        <p:nvSpPr>
          <p:cNvPr id="126" name="Google Shape;126;p15"/>
          <p:cNvSpPr txBox="1"/>
          <p:nvPr/>
        </p:nvSpPr>
        <p:spPr>
          <a:xfrm>
            <a:off x="923925" y="3729037"/>
            <a:ext cx="2927400" cy="12060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Maps PlayerID directly to a memory address. Allows us </a:t>
            </a:r>
            <a:r>
              <a:rPr lang="en-US" sz="1425">
                <a:solidFill>
                  <a:srgbClr val="D4D4D4"/>
                </a:solidFill>
                <a:latin typeface="Inter Light"/>
                <a:ea typeface="Inter Light"/>
                <a:cs typeface="Inter Light"/>
                <a:sym typeface="Inter Light"/>
              </a:rPr>
              <a:t>to find </a:t>
            </a:r>
            <a:r>
              <a:rPr lang="en-US" sz="1425" b="0" i="0" u="none" strike="noStrike" cap="none">
                <a:solidFill>
                  <a:srgbClr val="D4D4D4"/>
                </a:solidFill>
                <a:latin typeface="Inter Light"/>
                <a:ea typeface="Inter Light"/>
                <a:cs typeface="Inter Light"/>
                <a:sym typeface="Inter Light"/>
              </a:rPr>
              <a:t>a player's current score object instantly without searching the list.</a:t>
            </a:r>
            <a:endParaRPr/>
          </a:p>
        </p:txBody>
      </p:sp>
      <p:pic>
        <p:nvPicPr>
          <p:cNvPr id="127" name="Google Shape;127;p15" descr="image.png"/>
          <p:cNvPicPr preferRelativeResize="0"/>
          <p:nvPr/>
        </p:nvPicPr>
        <p:blipFill rotWithShape="1">
          <a:blip r:embed="rId8">
            <a:alphaModFix/>
          </a:blip>
          <a:srcRect/>
          <a:stretch/>
        </p:blipFill>
        <p:spPr>
          <a:xfrm>
            <a:off x="4632275" y="2524125"/>
            <a:ext cx="2927300" cy="304800"/>
          </a:xfrm>
          <a:prstGeom prst="rect">
            <a:avLst/>
          </a:prstGeom>
          <a:noFill/>
          <a:ln>
            <a:noFill/>
          </a:ln>
        </p:spPr>
      </p:pic>
      <p:sp>
        <p:nvSpPr>
          <p:cNvPr id="128" name="Google Shape;128;p15"/>
          <p:cNvSpPr txBox="1"/>
          <p:nvPr/>
        </p:nvSpPr>
        <p:spPr>
          <a:xfrm>
            <a:off x="4632275" y="2971800"/>
            <a:ext cx="3073665"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4ADE80"/>
                </a:solidFill>
                <a:latin typeface="Inter SemiBold"/>
                <a:ea typeface="Inter SemiBold"/>
                <a:cs typeface="Inter SemiBold"/>
                <a:sym typeface="Inter SemiBold"/>
              </a:rPr>
              <a:t>2. Balanced Tree</a:t>
            </a:r>
            <a:endParaRPr/>
          </a:p>
        </p:txBody>
      </p:sp>
      <p:sp>
        <p:nvSpPr>
          <p:cNvPr id="129" name="Google Shape;129;p15"/>
          <p:cNvSpPr txBox="1"/>
          <p:nvPr/>
        </p:nvSpPr>
        <p:spPr>
          <a:xfrm>
            <a:off x="4632275" y="3314700"/>
            <a:ext cx="2927300"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FFFFFF"/>
                </a:solidFill>
                <a:latin typeface="Inter SemiBold"/>
                <a:ea typeface="Inter SemiBold"/>
                <a:cs typeface="Inter SemiBold"/>
                <a:sym typeface="Inter SemiBold"/>
              </a:rPr>
              <a:t>Common Name:</a:t>
            </a:r>
            <a:r>
              <a:rPr lang="en-US" sz="1425" b="0" i="0" u="none" strike="noStrike" cap="none">
                <a:solidFill>
                  <a:srgbClr val="D4D4D4"/>
                </a:solidFill>
                <a:latin typeface="Inter Light"/>
                <a:ea typeface="Inter Light"/>
                <a:cs typeface="Inter Light"/>
                <a:sym typeface="Inter Light"/>
              </a:rPr>
              <a:t> Sorted Organizer</a:t>
            </a:r>
            <a:endParaRPr/>
          </a:p>
        </p:txBody>
      </p:sp>
      <p:sp>
        <p:nvSpPr>
          <p:cNvPr id="130" name="Google Shape;130;p15"/>
          <p:cNvSpPr txBox="1"/>
          <p:nvPr/>
        </p:nvSpPr>
        <p:spPr>
          <a:xfrm>
            <a:off x="4632275" y="3729037"/>
            <a:ext cx="2927300" cy="108585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 Self-Balancing BST keeps all players sorted by score. It automatically re-orders itself efficiently when scores change.</a:t>
            </a:r>
            <a:endParaRPr/>
          </a:p>
        </p:txBody>
      </p:sp>
      <p:pic>
        <p:nvPicPr>
          <p:cNvPr id="131" name="Google Shape;131;p15" descr="image.png"/>
          <p:cNvPicPr preferRelativeResize="0"/>
          <p:nvPr/>
        </p:nvPicPr>
        <p:blipFill rotWithShape="1">
          <a:blip r:embed="rId9">
            <a:alphaModFix/>
          </a:blip>
          <a:srcRect/>
          <a:stretch/>
        </p:blipFill>
        <p:spPr>
          <a:xfrm>
            <a:off x="8340625" y="2524125"/>
            <a:ext cx="2927449" cy="304800"/>
          </a:xfrm>
          <a:prstGeom prst="rect">
            <a:avLst/>
          </a:prstGeom>
          <a:noFill/>
          <a:ln>
            <a:noFill/>
          </a:ln>
        </p:spPr>
      </p:pic>
      <p:sp>
        <p:nvSpPr>
          <p:cNvPr id="132" name="Google Shape;132;p15"/>
          <p:cNvSpPr txBox="1"/>
          <p:nvPr/>
        </p:nvSpPr>
        <p:spPr>
          <a:xfrm>
            <a:off x="8340625" y="2971800"/>
            <a:ext cx="3073821"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4ADE80"/>
                </a:solidFill>
                <a:latin typeface="Inter SemiBold"/>
                <a:ea typeface="Inter SemiBold"/>
                <a:cs typeface="Inter SemiBold"/>
                <a:sym typeface="Inter SemiBold"/>
              </a:rPr>
              <a:t>3. Min-Heap</a:t>
            </a:r>
            <a:endParaRPr/>
          </a:p>
        </p:txBody>
      </p:sp>
      <p:sp>
        <p:nvSpPr>
          <p:cNvPr id="133" name="Google Shape;133;p15"/>
          <p:cNvSpPr txBox="1"/>
          <p:nvPr/>
        </p:nvSpPr>
        <p:spPr>
          <a:xfrm>
            <a:off x="8340625" y="3314700"/>
            <a:ext cx="2927449" cy="27146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FFFFFF"/>
                </a:solidFill>
                <a:latin typeface="Inter SemiBold"/>
                <a:ea typeface="Inter SemiBold"/>
                <a:cs typeface="Inter SemiBold"/>
                <a:sym typeface="Inter SemiBold"/>
              </a:rPr>
              <a:t>Common Name:</a:t>
            </a:r>
            <a:r>
              <a:rPr lang="en-US" sz="1425" b="0" i="0" u="none" strike="noStrike" cap="none">
                <a:solidFill>
                  <a:srgbClr val="D4D4D4"/>
                </a:solidFill>
                <a:latin typeface="Inter Light"/>
                <a:ea typeface="Inter Light"/>
                <a:cs typeface="Inter Light"/>
                <a:sym typeface="Inter Light"/>
              </a:rPr>
              <a:t> VIP List</a:t>
            </a:r>
            <a:endParaRPr/>
          </a:p>
        </p:txBody>
      </p:sp>
      <p:sp>
        <p:nvSpPr>
          <p:cNvPr id="134" name="Google Shape;134;p15"/>
          <p:cNvSpPr txBox="1"/>
          <p:nvPr/>
        </p:nvSpPr>
        <p:spPr>
          <a:xfrm>
            <a:off x="8340625" y="3729037"/>
            <a:ext cx="2927449" cy="108585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 separate structure that maintains just the "Top K" players, allowing for ultra-fast retrieval of the leaderboard header.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Shape 138"/>
        <p:cNvGrpSpPr/>
        <p:nvPr/>
      </p:nvGrpSpPr>
      <p:grpSpPr>
        <a:xfrm>
          <a:off x="0" y="0"/>
          <a:ext cx="0" cy="0"/>
          <a:chOff x="0" y="0"/>
          <a:chExt cx="0" cy="0"/>
        </a:xfrm>
      </p:grpSpPr>
      <p:pic>
        <p:nvPicPr>
          <p:cNvPr id="139" name="Google Shape;139;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0" name="Google Shape;140;p16" descr="image.png"/>
          <p:cNvPicPr preferRelativeResize="0"/>
          <p:nvPr/>
        </p:nvPicPr>
        <p:blipFill rotWithShape="1">
          <a:blip r:embed="rId4">
            <a:alphaModFix/>
          </a:blip>
          <a:srcRect/>
          <a:stretch/>
        </p:blipFill>
        <p:spPr>
          <a:xfrm>
            <a:off x="6572250" y="1352550"/>
            <a:ext cx="4943475" cy="2243137"/>
          </a:xfrm>
          <a:prstGeom prst="rect">
            <a:avLst/>
          </a:prstGeom>
          <a:noFill/>
          <a:ln>
            <a:noFill/>
          </a:ln>
        </p:spPr>
      </p:pic>
      <p:sp>
        <p:nvSpPr>
          <p:cNvPr id="141" name="Google Shape;141;p16"/>
          <p:cNvSpPr txBox="1"/>
          <p:nvPr/>
        </p:nvSpPr>
        <p:spPr>
          <a:xfrm>
            <a:off x="676275" y="485775"/>
            <a:ext cx="113814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FFFFF"/>
                </a:solidFill>
                <a:latin typeface="Inter"/>
                <a:ea typeface="Inter"/>
                <a:cs typeface="Inter"/>
                <a:sym typeface="Inter"/>
              </a:rPr>
              <a:t>Update Process</a:t>
            </a:r>
            <a:endParaRPr/>
          </a:p>
        </p:txBody>
      </p:sp>
      <p:sp>
        <p:nvSpPr>
          <p:cNvPr id="142" name="Google Shape;142;p16"/>
          <p:cNvSpPr/>
          <p:nvPr/>
        </p:nvSpPr>
        <p:spPr>
          <a:xfrm>
            <a:off x="676275" y="1095375"/>
            <a:ext cx="1083945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3" name="Google Shape;143;p16"/>
          <p:cNvSpPr txBox="1"/>
          <p:nvPr/>
        </p:nvSpPr>
        <p:spPr>
          <a:xfrm>
            <a:off x="676275" y="1352550"/>
            <a:ext cx="5133975"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When a player scores, updating "in-place" would break the sort order. We must follow a strict 5-step process to keep data safe:</a:t>
            </a:r>
            <a:endParaRPr/>
          </a:p>
        </p:txBody>
      </p:sp>
      <p:sp>
        <p:nvSpPr>
          <p:cNvPr id="144" name="Google Shape;144;p16"/>
          <p:cNvSpPr txBox="1"/>
          <p:nvPr/>
        </p:nvSpPr>
        <p:spPr>
          <a:xfrm>
            <a:off x="676275" y="2452687"/>
            <a:ext cx="513397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FFFFFF"/>
                </a:solidFill>
                <a:latin typeface="Inter"/>
                <a:ea typeface="Inter"/>
                <a:cs typeface="Inter"/>
                <a:sym typeface="Inter"/>
              </a:rPr>
              <a:t>1. Lookup Player Node</a:t>
            </a:r>
            <a:endParaRPr/>
          </a:p>
        </p:txBody>
      </p:sp>
      <p:sp>
        <p:nvSpPr>
          <p:cNvPr id="145" name="Google Shape;145;p16"/>
          <p:cNvSpPr/>
          <p:nvPr/>
        </p:nvSpPr>
        <p:spPr>
          <a:xfrm>
            <a:off x="676275" y="2767012"/>
            <a:ext cx="5133975"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6" name="Google Shape;146;p16"/>
          <p:cNvSpPr txBox="1"/>
          <p:nvPr/>
        </p:nvSpPr>
        <p:spPr>
          <a:xfrm>
            <a:off x="676275" y="2871787"/>
            <a:ext cx="513397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FFFFFF"/>
                </a:solidFill>
                <a:latin typeface="Inter"/>
                <a:ea typeface="Inter"/>
                <a:cs typeface="Inter"/>
                <a:sym typeface="Inter"/>
              </a:rPr>
              <a:t>2. Remove Old Score</a:t>
            </a:r>
            <a:endParaRPr/>
          </a:p>
        </p:txBody>
      </p:sp>
      <p:sp>
        <p:nvSpPr>
          <p:cNvPr id="147" name="Google Shape;147;p16"/>
          <p:cNvSpPr/>
          <p:nvPr/>
        </p:nvSpPr>
        <p:spPr>
          <a:xfrm>
            <a:off x="676275" y="3186112"/>
            <a:ext cx="5133975"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8" name="Google Shape;148;p16"/>
          <p:cNvSpPr txBox="1"/>
          <p:nvPr/>
        </p:nvSpPr>
        <p:spPr>
          <a:xfrm>
            <a:off x="676275" y="3290887"/>
            <a:ext cx="513397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FFFFFF"/>
                </a:solidFill>
                <a:latin typeface="Inter"/>
                <a:ea typeface="Inter"/>
                <a:cs typeface="Inter"/>
                <a:sym typeface="Inter"/>
              </a:rPr>
              <a:t>3. Update Value &amp; Time</a:t>
            </a:r>
            <a:endParaRPr/>
          </a:p>
        </p:txBody>
      </p:sp>
      <p:sp>
        <p:nvSpPr>
          <p:cNvPr id="149" name="Google Shape;149;p16"/>
          <p:cNvSpPr/>
          <p:nvPr/>
        </p:nvSpPr>
        <p:spPr>
          <a:xfrm>
            <a:off x="676275" y="3605212"/>
            <a:ext cx="5133975"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0" name="Google Shape;150;p16"/>
          <p:cNvSpPr txBox="1"/>
          <p:nvPr/>
        </p:nvSpPr>
        <p:spPr>
          <a:xfrm>
            <a:off x="676275" y="3709987"/>
            <a:ext cx="513397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FFFFFF"/>
                </a:solidFill>
                <a:latin typeface="Inter"/>
                <a:ea typeface="Inter"/>
                <a:cs typeface="Inter"/>
                <a:sym typeface="Inter"/>
              </a:rPr>
              <a:t>4. Insert New Score</a:t>
            </a:r>
            <a:endParaRPr/>
          </a:p>
        </p:txBody>
      </p:sp>
      <p:sp>
        <p:nvSpPr>
          <p:cNvPr id="151" name="Google Shape;151;p16"/>
          <p:cNvSpPr/>
          <p:nvPr/>
        </p:nvSpPr>
        <p:spPr>
          <a:xfrm>
            <a:off x="676275" y="4024312"/>
            <a:ext cx="5133975"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2" name="Google Shape;152;p16"/>
          <p:cNvSpPr txBox="1"/>
          <p:nvPr/>
        </p:nvSpPr>
        <p:spPr>
          <a:xfrm>
            <a:off x="676275" y="4129087"/>
            <a:ext cx="513397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FFFFFF"/>
                </a:solidFill>
                <a:latin typeface="Inter"/>
                <a:ea typeface="Inter"/>
                <a:cs typeface="Inter"/>
                <a:sym typeface="Inter"/>
              </a:rPr>
              <a:t>5. Update Location</a:t>
            </a:r>
            <a:endParaRPr/>
          </a:p>
        </p:txBody>
      </p:sp>
      <p:sp>
        <p:nvSpPr>
          <p:cNvPr id="153" name="Google Shape;153;p16"/>
          <p:cNvSpPr/>
          <p:nvPr/>
        </p:nvSpPr>
        <p:spPr>
          <a:xfrm>
            <a:off x="676275" y="4443412"/>
            <a:ext cx="5133975" cy="9525"/>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4" name="Google Shape;154;p16"/>
          <p:cNvSpPr txBox="1"/>
          <p:nvPr/>
        </p:nvSpPr>
        <p:spPr>
          <a:xfrm>
            <a:off x="6772275" y="1552575"/>
            <a:ext cx="4770596"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4ADE80"/>
                </a:solidFill>
                <a:latin typeface="Inter SemiBold"/>
                <a:ea typeface="Inter SemiBold"/>
                <a:cs typeface="Inter SemiBold"/>
                <a:sym typeface="Inter SemiBold"/>
              </a:rPr>
              <a:t>Why do we do this?</a:t>
            </a:r>
            <a:endParaRPr/>
          </a:p>
        </p:txBody>
      </p:sp>
      <p:sp>
        <p:nvSpPr>
          <p:cNvPr id="155" name="Google Shape;155;p16"/>
          <p:cNvSpPr txBox="1"/>
          <p:nvPr/>
        </p:nvSpPr>
        <p:spPr>
          <a:xfrm>
            <a:off x="6772275" y="1895475"/>
            <a:ext cx="4543500" cy="15351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The "Remove-then-Insert" pattern is </a:t>
            </a:r>
            <a:r>
              <a:rPr lang="en-US" sz="1425">
                <a:solidFill>
                  <a:srgbClr val="D4D4D4"/>
                </a:solidFill>
                <a:latin typeface="Inter Light"/>
                <a:ea typeface="Inter Light"/>
                <a:cs typeface="Inter Light"/>
                <a:sym typeface="Inter Light"/>
              </a:rPr>
              <a:t>important</a:t>
            </a:r>
            <a:r>
              <a:rPr lang="en-US" sz="1425" b="0" i="0" u="none" strike="noStrike" cap="none">
                <a:solidFill>
                  <a:srgbClr val="D4D4D4"/>
                </a:solidFill>
                <a:latin typeface="Inter Light"/>
                <a:ea typeface="Inter Light"/>
                <a:cs typeface="Inter Light"/>
                <a:sym typeface="Inter Light"/>
              </a:rPr>
              <a:t>. By removing and re-inserting the node, the system forces the tree to re-evaluate the node's position and perform self-balancing. This ensures that future searches remain fast.</a:t>
            </a:r>
            <a:endParaRPr/>
          </a:p>
        </p:txBody>
      </p:sp>
      <p:pic>
        <p:nvPicPr>
          <p:cNvPr id="156" name="Google Shape;156;p16" descr="image.png"/>
          <p:cNvPicPr preferRelativeResize="0"/>
          <p:nvPr/>
        </p:nvPicPr>
        <p:blipFill rotWithShape="1">
          <a:blip r:embed="rId5">
            <a:alphaModFix/>
          </a:blip>
          <a:srcRect/>
          <a:stretch/>
        </p:blipFill>
        <p:spPr>
          <a:xfrm>
            <a:off x="5353050" y="2452687"/>
            <a:ext cx="457200" cy="219075"/>
          </a:xfrm>
          <a:prstGeom prst="rect">
            <a:avLst/>
          </a:prstGeom>
          <a:noFill/>
          <a:ln>
            <a:noFill/>
          </a:ln>
        </p:spPr>
      </p:pic>
      <p:pic>
        <p:nvPicPr>
          <p:cNvPr id="157" name="Google Shape;157;p16" descr="image.png"/>
          <p:cNvPicPr preferRelativeResize="0"/>
          <p:nvPr/>
        </p:nvPicPr>
        <p:blipFill rotWithShape="1">
          <a:blip r:embed="rId6">
            <a:alphaModFix/>
          </a:blip>
          <a:srcRect/>
          <a:stretch/>
        </p:blipFill>
        <p:spPr>
          <a:xfrm>
            <a:off x="5010150" y="2871787"/>
            <a:ext cx="800100" cy="219075"/>
          </a:xfrm>
          <a:prstGeom prst="rect">
            <a:avLst/>
          </a:prstGeom>
          <a:noFill/>
          <a:ln>
            <a:noFill/>
          </a:ln>
        </p:spPr>
      </p:pic>
      <p:pic>
        <p:nvPicPr>
          <p:cNvPr id="158" name="Google Shape;158;p16" descr="image.png"/>
          <p:cNvPicPr preferRelativeResize="0"/>
          <p:nvPr/>
        </p:nvPicPr>
        <p:blipFill rotWithShape="1">
          <a:blip r:embed="rId5">
            <a:alphaModFix/>
          </a:blip>
          <a:srcRect/>
          <a:stretch/>
        </p:blipFill>
        <p:spPr>
          <a:xfrm>
            <a:off x="5353050" y="3290887"/>
            <a:ext cx="457200" cy="219075"/>
          </a:xfrm>
          <a:prstGeom prst="rect">
            <a:avLst/>
          </a:prstGeom>
          <a:noFill/>
          <a:ln>
            <a:noFill/>
          </a:ln>
        </p:spPr>
      </p:pic>
      <p:pic>
        <p:nvPicPr>
          <p:cNvPr id="159" name="Google Shape;159;p16" descr="image.png"/>
          <p:cNvPicPr preferRelativeResize="0"/>
          <p:nvPr/>
        </p:nvPicPr>
        <p:blipFill rotWithShape="1">
          <a:blip r:embed="rId6">
            <a:alphaModFix/>
          </a:blip>
          <a:srcRect/>
          <a:stretch/>
        </p:blipFill>
        <p:spPr>
          <a:xfrm>
            <a:off x="5010150" y="3709987"/>
            <a:ext cx="800100" cy="219075"/>
          </a:xfrm>
          <a:prstGeom prst="rect">
            <a:avLst/>
          </a:prstGeom>
          <a:noFill/>
          <a:ln>
            <a:noFill/>
          </a:ln>
        </p:spPr>
      </p:pic>
      <p:pic>
        <p:nvPicPr>
          <p:cNvPr id="160" name="Google Shape;160;p16" descr="image.png"/>
          <p:cNvPicPr preferRelativeResize="0"/>
          <p:nvPr/>
        </p:nvPicPr>
        <p:blipFill rotWithShape="1">
          <a:blip r:embed="rId5">
            <a:alphaModFix/>
          </a:blip>
          <a:srcRect/>
          <a:stretch/>
        </p:blipFill>
        <p:spPr>
          <a:xfrm>
            <a:off x="5353050" y="4129087"/>
            <a:ext cx="457200" cy="219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Shape 164"/>
        <p:cNvGrpSpPr/>
        <p:nvPr/>
      </p:nvGrpSpPr>
      <p:grpSpPr>
        <a:xfrm>
          <a:off x="0" y="0"/>
          <a:ext cx="0" cy="0"/>
          <a:chOff x="0" y="0"/>
          <a:chExt cx="0" cy="0"/>
        </a:xfrm>
      </p:grpSpPr>
      <p:pic>
        <p:nvPicPr>
          <p:cNvPr id="165" name="Google Shape;165;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6" name="Google Shape;166;p17" descr="image.png"/>
          <p:cNvPicPr preferRelativeResize="0"/>
          <p:nvPr/>
        </p:nvPicPr>
        <p:blipFill rotWithShape="1">
          <a:blip r:embed="rId4">
            <a:alphaModFix/>
          </a:blip>
          <a:srcRect/>
          <a:stretch/>
        </p:blipFill>
        <p:spPr>
          <a:xfrm>
            <a:off x="676275" y="2652712"/>
            <a:ext cx="5133975" cy="2171700"/>
          </a:xfrm>
          <a:prstGeom prst="rect">
            <a:avLst/>
          </a:prstGeom>
          <a:noFill/>
          <a:ln>
            <a:noFill/>
          </a:ln>
        </p:spPr>
      </p:pic>
      <p:sp>
        <p:nvSpPr>
          <p:cNvPr id="167" name="Google Shape;167;p17"/>
          <p:cNvSpPr txBox="1"/>
          <p:nvPr/>
        </p:nvSpPr>
        <p:spPr>
          <a:xfrm>
            <a:off x="676275" y="485775"/>
            <a:ext cx="11381422"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FFFFF"/>
                </a:solidFill>
                <a:latin typeface="Inter"/>
                <a:ea typeface="Inter"/>
                <a:cs typeface="Inter"/>
                <a:sym typeface="Inter"/>
              </a:rPr>
              <a:t>Handling Ties &amp; Simultaneous Updates</a:t>
            </a:r>
            <a:endParaRPr/>
          </a:p>
        </p:txBody>
      </p:sp>
      <p:sp>
        <p:nvSpPr>
          <p:cNvPr id="168" name="Google Shape;168;p17"/>
          <p:cNvSpPr/>
          <p:nvPr/>
        </p:nvSpPr>
        <p:spPr>
          <a:xfrm>
            <a:off x="676275" y="1095375"/>
            <a:ext cx="1083945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9" name="Google Shape;169;p17"/>
          <p:cNvSpPr txBox="1"/>
          <p:nvPr/>
        </p:nvSpPr>
        <p:spPr>
          <a:xfrm>
            <a:off x="676275" y="1352550"/>
            <a:ext cx="5390673"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FFFFFF"/>
                </a:solidFill>
                <a:latin typeface="Inter SemiBold"/>
                <a:ea typeface="Inter SemiBold"/>
                <a:cs typeface="Inter SemiBold"/>
                <a:sym typeface="Inter SemiBold"/>
              </a:rPr>
              <a:t>The Tie-Breaking Problem</a:t>
            </a:r>
            <a:endParaRPr/>
          </a:p>
        </p:txBody>
      </p:sp>
      <p:sp>
        <p:nvSpPr>
          <p:cNvPr id="170" name="Google Shape;170;p17"/>
          <p:cNvSpPr txBox="1"/>
          <p:nvPr/>
        </p:nvSpPr>
        <p:spPr>
          <a:xfrm>
            <a:off x="676275" y="1695450"/>
            <a:ext cx="5133975"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When millions of players are active, many will have identical scores. The system needs a rule to decide who ranks higher. The standard is </a:t>
            </a:r>
            <a:r>
              <a:rPr lang="en-US" sz="1425" b="0" i="0" u="none" strike="noStrike" cap="none">
                <a:solidFill>
                  <a:srgbClr val="FFFFFF"/>
                </a:solidFill>
                <a:latin typeface="Inter SemiBold"/>
                <a:ea typeface="Inter SemiBold"/>
                <a:cs typeface="Inter SemiBold"/>
                <a:sym typeface="Inter SemiBold"/>
              </a:rPr>
              <a:t>First-to-Score</a:t>
            </a:r>
            <a:r>
              <a:rPr lang="en-US" sz="1425" b="0" i="0" u="none" strike="noStrike" cap="none">
                <a:solidFill>
                  <a:srgbClr val="D4D4D4"/>
                </a:solidFill>
                <a:latin typeface="Inter Light"/>
                <a:ea typeface="Inter Light"/>
                <a:cs typeface="Inter Light"/>
                <a:sym typeface="Inter Light"/>
              </a:rPr>
              <a:t> wins.</a:t>
            </a:r>
            <a:endParaRPr/>
          </a:p>
        </p:txBody>
      </p:sp>
      <p:sp>
        <p:nvSpPr>
          <p:cNvPr id="171" name="Google Shape;171;p17"/>
          <p:cNvSpPr txBox="1"/>
          <p:nvPr/>
        </p:nvSpPr>
        <p:spPr>
          <a:xfrm>
            <a:off x="6381750" y="1352550"/>
            <a:ext cx="5390673"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FFFFFF"/>
                </a:solidFill>
                <a:latin typeface="Inter SemiBold"/>
                <a:ea typeface="Inter SemiBold"/>
                <a:cs typeface="Inter SemiBold"/>
                <a:sym typeface="Inter SemiBold"/>
              </a:rPr>
              <a:t>Traffic Jams</a:t>
            </a:r>
            <a:endParaRPr/>
          </a:p>
        </p:txBody>
      </p:sp>
      <p:sp>
        <p:nvSpPr>
          <p:cNvPr id="172" name="Google Shape;172;p17"/>
          <p:cNvSpPr txBox="1"/>
          <p:nvPr/>
        </p:nvSpPr>
        <p:spPr>
          <a:xfrm>
            <a:off x="6381750" y="1695450"/>
            <a:ext cx="5133975"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If multiple players update scores at the exact same nanosecond, the system must avoid data corruption.</a:t>
            </a:r>
            <a:endParaRPr/>
          </a:p>
        </p:txBody>
      </p:sp>
      <p:sp>
        <p:nvSpPr>
          <p:cNvPr id="173" name="Google Shape;173;p17"/>
          <p:cNvSpPr txBox="1"/>
          <p:nvPr/>
        </p:nvSpPr>
        <p:spPr>
          <a:xfrm>
            <a:off x="876300" y="2852737"/>
            <a:ext cx="4970621"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4ADE80"/>
                </a:solidFill>
                <a:latin typeface="Inter SemiBold"/>
                <a:ea typeface="Inter SemiBold"/>
                <a:cs typeface="Inter SemiBold"/>
                <a:sym typeface="Inter SemiBold"/>
              </a:rPr>
              <a:t>The Formula</a:t>
            </a:r>
            <a:endParaRPr/>
          </a:p>
        </p:txBody>
      </p:sp>
      <p:sp>
        <p:nvSpPr>
          <p:cNvPr id="174" name="Google Shape;174;p17"/>
          <p:cNvSpPr txBox="1"/>
          <p:nvPr/>
        </p:nvSpPr>
        <p:spPr>
          <a:xfrm>
            <a:off x="876300" y="3195637"/>
            <a:ext cx="4733925"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D4D4D4"/>
                </a:solidFill>
                <a:latin typeface="JetBrains Mono Light"/>
                <a:ea typeface="JetBrains Mono Light"/>
                <a:cs typeface="JetBrains Mono Light"/>
                <a:sym typeface="JetBrains Mono Light"/>
              </a:rPr>
              <a:t>RankScore = (Points * 10^10) + (MaxTime - Timestamp)</a:t>
            </a:r>
            <a:endParaRPr/>
          </a:p>
        </p:txBody>
      </p:sp>
      <p:sp>
        <p:nvSpPr>
          <p:cNvPr id="175" name="Google Shape;175;p17"/>
          <p:cNvSpPr txBox="1"/>
          <p:nvPr/>
        </p:nvSpPr>
        <p:spPr>
          <a:xfrm>
            <a:off x="876300" y="3795712"/>
            <a:ext cx="4734000" cy="738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D4D4D4"/>
                </a:solidFill>
                <a:latin typeface="Inter Light"/>
                <a:ea typeface="Inter Light"/>
                <a:cs typeface="Inter Light"/>
                <a:sym typeface="Inter Light"/>
              </a:rPr>
              <a:t>This formula combines </a:t>
            </a:r>
            <a:r>
              <a:rPr lang="en-US" sz="1200">
                <a:solidFill>
                  <a:srgbClr val="D4D4D4"/>
                </a:solidFill>
                <a:latin typeface="Inter Light"/>
                <a:ea typeface="Inter Light"/>
                <a:cs typeface="Inter Light"/>
                <a:sym typeface="Inter Light"/>
              </a:rPr>
              <a:t>a score</a:t>
            </a:r>
            <a:r>
              <a:rPr lang="en-US" sz="1200" b="0" i="0" u="none" strike="noStrike" cap="none">
                <a:solidFill>
                  <a:srgbClr val="D4D4D4"/>
                </a:solidFill>
                <a:latin typeface="Inter Light"/>
                <a:ea typeface="Inter Light"/>
                <a:cs typeface="Inter Light"/>
                <a:sym typeface="Inter Light"/>
              </a:rPr>
              <a:t> and an inverted timestamp into a single number. An earlier time results in a slightly higher final number, breaking the tie mathematically.</a:t>
            </a:r>
            <a:endParaRPr sz="1200">
              <a:solidFill>
                <a:srgbClr val="D4D4D4"/>
              </a:solidFill>
              <a:latin typeface="Inter Light"/>
              <a:ea typeface="Inter Light"/>
              <a:cs typeface="Inter Light"/>
              <a:sym typeface="Inter Light"/>
            </a:endParaRPr>
          </a:p>
        </p:txBody>
      </p:sp>
      <p:sp>
        <p:nvSpPr>
          <p:cNvPr id="176" name="Google Shape;176;p17"/>
          <p:cNvSpPr txBox="1"/>
          <p:nvPr/>
        </p:nvSpPr>
        <p:spPr>
          <a:xfrm>
            <a:off x="6657975" y="2378868"/>
            <a:ext cx="1047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t>
            </a:r>
            <a:endParaRPr/>
          </a:p>
        </p:txBody>
      </p:sp>
      <p:sp>
        <p:nvSpPr>
          <p:cNvPr id="177" name="Google Shape;177;p17"/>
          <p:cNvSpPr txBox="1"/>
          <p:nvPr/>
        </p:nvSpPr>
        <p:spPr>
          <a:xfrm>
            <a:off x="6762750" y="2381250"/>
            <a:ext cx="4752975" cy="542925"/>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FFFFFF"/>
                </a:solidFill>
                <a:latin typeface="Inter SemiBold"/>
                <a:ea typeface="Inter SemiBold"/>
                <a:cs typeface="Inter SemiBold"/>
                <a:sym typeface="Inter SemiBold"/>
              </a:rPr>
              <a:t>Solution:</a:t>
            </a:r>
            <a:r>
              <a:rPr lang="en-US" sz="1425" b="0" i="0" u="none" strike="noStrike" cap="none">
                <a:solidFill>
                  <a:srgbClr val="D4D4D4"/>
                </a:solidFill>
                <a:latin typeface="Inter Light"/>
                <a:ea typeface="Inter Light"/>
                <a:cs typeface="Inter Light"/>
                <a:sym typeface="Inter Light"/>
              </a:rPr>
              <a:t> Single-file processing. All requests are queued and processed one-by-one in memory.</a:t>
            </a:r>
            <a:endParaRPr/>
          </a:p>
        </p:txBody>
      </p:sp>
      <p:sp>
        <p:nvSpPr>
          <p:cNvPr id="178" name="Google Shape;178;p17"/>
          <p:cNvSpPr txBox="1"/>
          <p:nvPr/>
        </p:nvSpPr>
        <p:spPr>
          <a:xfrm>
            <a:off x="6657975" y="3064668"/>
            <a:ext cx="1047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t>
            </a:r>
            <a:endParaRPr/>
          </a:p>
        </p:txBody>
      </p:sp>
      <p:sp>
        <p:nvSpPr>
          <p:cNvPr id="179" name="Google Shape;179;p17"/>
          <p:cNvSpPr txBox="1"/>
          <p:nvPr/>
        </p:nvSpPr>
        <p:spPr>
          <a:xfrm>
            <a:off x="6762750" y="3067050"/>
            <a:ext cx="4752975" cy="814387"/>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This method avoids complex software locking mechanisms and is fast enough to ensure updates appear parallel to users.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Shape 183"/>
        <p:cNvGrpSpPr/>
        <p:nvPr/>
      </p:nvGrpSpPr>
      <p:grpSpPr>
        <a:xfrm>
          <a:off x="0" y="0"/>
          <a:ext cx="0" cy="0"/>
          <a:chOff x="0" y="0"/>
          <a:chExt cx="0" cy="0"/>
        </a:xfrm>
      </p:grpSpPr>
      <p:pic>
        <p:nvPicPr>
          <p:cNvPr id="184" name="Google Shape;184;p18" descr="image.png"/>
          <p:cNvPicPr preferRelativeResize="0"/>
          <p:nvPr/>
        </p:nvPicPr>
        <p:blipFill rotWithShape="1">
          <a:blip r:embed="rId3">
            <a:alphaModFix/>
          </a:blip>
          <a:srcRect/>
          <a:stretch/>
        </p:blipFill>
        <p:spPr>
          <a:xfrm>
            <a:off x="-2" y="0"/>
            <a:ext cx="12192000" cy="6858000"/>
          </a:xfrm>
          <a:prstGeom prst="rect">
            <a:avLst/>
          </a:prstGeom>
          <a:noFill/>
          <a:ln>
            <a:noFill/>
          </a:ln>
        </p:spPr>
      </p:pic>
      <p:pic>
        <p:nvPicPr>
          <p:cNvPr id="185" name="Google Shape;185;p18" descr="image.png"/>
          <p:cNvPicPr preferRelativeResize="0"/>
          <p:nvPr/>
        </p:nvPicPr>
        <p:blipFill rotWithShape="1">
          <a:blip r:embed="rId4">
            <a:alphaModFix/>
          </a:blip>
          <a:srcRect/>
          <a:stretch/>
        </p:blipFill>
        <p:spPr>
          <a:xfrm>
            <a:off x="676275" y="3267075"/>
            <a:ext cx="5133975" cy="2386012"/>
          </a:xfrm>
          <a:prstGeom prst="rect">
            <a:avLst/>
          </a:prstGeom>
          <a:noFill/>
          <a:ln>
            <a:noFill/>
          </a:ln>
        </p:spPr>
      </p:pic>
      <p:sp>
        <p:nvSpPr>
          <p:cNvPr id="186" name="Google Shape;186;p18"/>
          <p:cNvSpPr txBox="1"/>
          <p:nvPr/>
        </p:nvSpPr>
        <p:spPr>
          <a:xfrm>
            <a:off x="676275" y="485775"/>
            <a:ext cx="113814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a:solidFill>
                  <a:srgbClr val="FFFFFF"/>
                </a:solidFill>
                <a:latin typeface="Inter"/>
                <a:ea typeface="Inter"/>
                <a:cs typeface="Inter"/>
                <a:sym typeface="Inter"/>
              </a:rPr>
              <a:t>Solving </a:t>
            </a:r>
            <a:r>
              <a:rPr lang="en-US" sz="3000" b="1" i="0" u="none" strike="noStrike" cap="none">
                <a:solidFill>
                  <a:srgbClr val="FFFFFF"/>
                </a:solidFill>
                <a:latin typeface="Inter"/>
                <a:ea typeface="Inter"/>
                <a:cs typeface="Inter"/>
                <a:sym typeface="Inter"/>
              </a:rPr>
              <a:t>Hash Map Issues</a:t>
            </a:r>
            <a:endParaRPr/>
          </a:p>
        </p:txBody>
      </p:sp>
      <p:sp>
        <p:nvSpPr>
          <p:cNvPr id="187" name="Google Shape;187;p18"/>
          <p:cNvSpPr/>
          <p:nvPr/>
        </p:nvSpPr>
        <p:spPr>
          <a:xfrm>
            <a:off x="676275" y="1095375"/>
            <a:ext cx="1083945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8" name="Google Shape;188;p18"/>
          <p:cNvSpPr txBox="1"/>
          <p:nvPr/>
        </p:nvSpPr>
        <p:spPr>
          <a:xfrm>
            <a:off x="676275" y="1352550"/>
            <a:ext cx="5133900" cy="12060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We assume Hash Maps are instant (O(1)), but this is only true if every player gets their own unique slot in memory. In massive systems, two players might get sent to the same slot.</a:t>
            </a:r>
            <a:endParaRPr/>
          </a:p>
        </p:txBody>
      </p:sp>
      <p:sp>
        <p:nvSpPr>
          <p:cNvPr id="189" name="Google Shape;189;p18"/>
          <p:cNvSpPr txBox="1"/>
          <p:nvPr/>
        </p:nvSpPr>
        <p:spPr>
          <a:xfrm>
            <a:off x="676275" y="2581275"/>
            <a:ext cx="5133975"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FFFFFF"/>
                </a:solidFill>
                <a:latin typeface="Inter SemiBold"/>
                <a:ea typeface="Inter SemiBold"/>
                <a:cs typeface="Inter SemiBold"/>
                <a:sym typeface="Inter SemiBold"/>
              </a:rPr>
              <a:t>The Danger:</a:t>
            </a:r>
            <a:r>
              <a:rPr lang="en-US" sz="1425" b="0" i="0" u="none" strike="noStrike" cap="none">
                <a:solidFill>
                  <a:srgbClr val="D4D4D4"/>
                </a:solidFill>
                <a:latin typeface="Inter Light"/>
                <a:ea typeface="Inter Light"/>
                <a:cs typeface="Inter Light"/>
                <a:sym typeface="Inter Light"/>
              </a:rPr>
              <a:t> This is called a "Collision." If too many players collide in one slot, searching that slot becomes slow.</a:t>
            </a:r>
            <a:endParaRPr/>
          </a:p>
        </p:txBody>
      </p:sp>
      <p:sp>
        <p:nvSpPr>
          <p:cNvPr id="190" name="Google Shape;190;p18"/>
          <p:cNvSpPr txBox="1"/>
          <p:nvPr/>
        </p:nvSpPr>
        <p:spPr>
          <a:xfrm>
            <a:off x="6381750" y="1352550"/>
            <a:ext cx="5390700" cy="24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4ADE80"/>
                </a:solidFill>
                <a:latin typeface="Inter SemiBold"/>
                <a:ea typeface="Inter SemiBold"/>
                <a:cs typeface="Inter SemiBold"/>
                <a:sym typeface="Inter SemiBold"/>
              </a:rPr>
              <a:t>Keeping Empty Space</a:t>
            </a:r>
            <a:endParaRPr/>
          </a:p>
        </p:txBody>
      </p:sp>
      <p:sp>
        <p:nvSpPr>
          <p:cNvPr id="191" name="Google Shape;191;p18"/>
          <p:cNvSpPr txBox="1"/>
          <p:nvPr/>
        </p:nvSpPr>
        <p:spPr>
          <a:xfrm>
            <a:off x="6381750" y="1695450"/>
            <a:ext cx="5133900" cy="5430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To keep collisions low, the Hash Map must stay mostly empty. This requires a "Load Factor" of around 0.75.</a:t>
            </a:r>
            <a:endParaRPr/>
          </a:p>
        </p:txBody>
      </p:sp>
      <p:sp>
        <p:nvSpPr>
          <p:cNvPr id="192" name="Google Shape;192;p18"/>
          <p:cNvSpPr txBox="1"/>
          <p:nvPr/>
        </p:nvSpPr>
        <p:spPr>
          <a:xfrm>
            <a:off x="6381750" y="2381250"/>
            <a:ext cx="5133900" cy="8772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This means if we need to store 10 million players, we effectively need memory space for about 13.3 million slots. This extra RAM usage </a:t>
            </a:r>
            <a:r>
              <a:rPr lang="en-US" sz="1425">
                <a:solidFill>
                  <a:srgbClr val="D4D4D4"/>
                </a:solidFill>
                <a:latin typeface="Inter Light"/>
                <a:ea typeface="Inter Light"/>
                <a:cs typeface="Inter Light"/>
                <a:sym typeface="Inter Light"/>
              </a:rPr>
              <a:t>is what provides </a:t>
            </a:r>
            <a:r>
              <a:rPr lang="en-US" sz="1425" b="0" i="0" u="none" strike="noStrike" cap="none">
                <a:solidFill>
                  <a:srgbClr val="D4D4D4"/>
                </a:solidFill>
                <a:latin typeface="Inter Light"/>
                <a:ea typeface="Inter Light"/>
                <a:cs typeface="Inter Light"/>
                <a:sym typeface="Inter Light"/>
              </a:rPr>
              <a:t>high speed.</a:t>
            </a:r>
            <a:endParaRPr/>
          </a:p>
        </p:txBody>
      </p:sp>
      <p:sp>
        <p:nvSpPr>
          <p:cNvPr id="193" name="Google Shape;193;p18"/>
          <p:cNvSpPr txBox="1"/>
          <p:nvPr/>
        </p:nvSpPr>
        <p:spPr>
          <a:xfrm>
            <a:off x="876300" y="3467100"/>
            <a:ext cx="4970621"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4ADE80"/>
                </a:solidFill>
                <a:latin typeface="Inter SemiBold"/>
                <a:ea typeface="Inter SemiBold"/>
                <a:cs typeface="Inter SemiBold"/>
                <a:sym typeface="Inter SemiBold"/>
              </a:rPr>
              <a:t>Handling Collisions</a:t>
            </a:r>
            <a:endParaRPr/>
          </a:p>
        </p:txBody>
      </p:sp>
      <p:sp>
        <p:nvSpPr>
          <p:cNvPr id="194" name="Google Shape;194;p18"/>
          <p:cNvSpPr txBox="1"/>
          <p:nvPr/>
        </p:nvSpPr>
        <p:spPr>
          <a:xfrm>
            <a:off x="876300" y="3810000"/>
            <a:ext cx="4733925"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FFFFFF"/>
                </a:solidFill>
                <a:latin typeface="Inter SemiBold"/>
                <a:ea typeface="Inter SemiBold"/>
                <a:cs typeface="Inter SemiBold"/>
                <a:sym typeface="Inter SemiBold"/>
              </a:rPr>
              <a:t>Overflow Lists:</a:t>
            </a:r>
            <a:r>
              <a:rPr lang="en-US" sz="1425" b="0" i="0" u="none" strike="noStrike" cap="none">
                <a:solidFill>
                  <a:srgbClr val="D4D4D4"/>
                </a:solidFill>
                <a:latin typeface="Inter Light"/>
                <a:ea typeface="Inter Light"/>
                <a:cs typeface="Inter Light"/>
                <a:sym typeface="Inter Light"/>
              </a:rPr>
              <a:t> The memory slot holds a small list of all colliding players.</a:t>
            </a:r>
            <a:endParaRPr/>
          </a:p>
        </p:txBody>
      </p:sp>
      <p:sp>
        <p:nvSpPr>
          <p:cNvPr id="195" name="Google Shape;195;p18"/>
          <p:cNvSpPr txBox="1"/>
          <p:nvPr/>
        </p:nvSpPr>
        <p:spPr>
          <a:xfrm>
            <a:off x="876300" y="4495800"/>
            <a:ext cx="4733925"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FFFFFF"/>
                </a:solidFill>
                <a:latin typeface="Inter SemiBold"/>
                <a:ea typeface="Inter SemiBold"/>
                <a:cs typeface="Inter SemiBold"/>
                <a:sym typeface="Inter SemiBold"/>
              </a:rPr>
              <a:t>Emergency Fix:</a:t>
            </a:r>
            <a:r>
              <a:rPr lang="en-US" sz="1425" b="0" i="0" u="none" strike="noStrike" cap="none">
                <a:solidFill>
                  <a:srgbClr val="D4D4D4"/>
                </a:solidFill>
                <a:latin typeface="Inter Light"/>
                <a:ea typeface="Inter Light"/>
                <a:cs typeface="Inter Light"/>
                <a:sym typeface="Inter Light"/>
              </a:rPr>
              <a:t> If the list gets too long (e.g., 8 items), the system converts that list into a tiny, local Sorted Tree to keep it fast.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Shape 199"/>
        <p:cNvGrpSpPr/>
        <p:nvPr/>
      </p:nvGrpSpPr>
      <p:grpSpPr>
        <a:xfrm>
          <a:off x="0" y="0"/>
          <a:ext cx="0" cy="0"/>
          <a:chOff x="0" y="0"/>
          <a:chExt cx="0" cy="0"/>
        </a:xfrm>
      </p:grpSpPr>
      <p:pic>
        <p:nvPicPr>
          <p:cNvPr id="200" name="Google Shape;200;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1" name="Google Shape;201;p19" descr="image.png"/>
          <p:cNvPicPr preferRelativeResize="0"/>
          <p:nvPr/>
        </p:nvPicPr>
        <p:blipFill rotWithShape="1">
          <a:blip r:embed="rId4">
            <a:alphaModFix/>
          </a:blip>
          <a:srcRect/>
          <a:stretch/>
        </p:blipFill>
        <p:spPr>
          <a:xfrm>
            <a:off x="676275" y="2038350"/>
            <a:ext cx="5133975" cy="3743325"/>
          </a:xfrm>
          <a:prstGeom prst="rect">
            <a:avLst/>
          </a:prstGeom>
          <a:noFill/>
          <a:ln>
            <a:noFill/>
          </a:ln>
        </p:spPr>
      </p:pic>
      <p:pic>
        <p:nvPicPr>
          <p:cNvPr id="202" name="Google Shape;202;p19" descr="image.png"/>
          <p:cNvPicPr preferRelativeResize="0"/>
          <p:nvPr/>
        </p:nvPicPr>
        <p:blipFill rotWithShape="1">
          <a:blip r:embed="rId5">
            <a:alphaModFix/>
          </a:blip>
          <a:srcRect/>
          <a:stretch/>
        </p:blipFill>
        <p:spPr>
          <a:xfrm>
            <a:off x="6381750" y="2038350"/>
            <a:ext cx="5133975" cy="2895600"/>
          </a:xfrm>
          <a:prstGeom prst="rect">
            <a:avLst/>
          </a:prstGeom>
          <a:noFill/>
          <a:ln>
            <a:noFill/>
          </a:ln>
        </p:spPr>
      </p:pic>
      <p:sp>
        <p:nvSpPr>
          <p:cNvPr id="203" name="Google Shape;203;p19"/>
          <p:cNvSpPr txBox="1"/>
          <p:nvPr/>
        </p:nvSpPr>
        <p:spPr>
          <a:xfrm>
            <a:off x="676275" y="485775"/>
            <a:ext cx="113814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FFFFF"/>
                </a:solidFill>
                <a:latin typeface="Inter"/>
                <a:ea typeface="Inter"/>
                <a:cs typeface="Inter"/>
                <a:sym typeface="Inter"/>
              </a:rPr>
              <a:t>Alternative</a:t>
            </a:r>
            <a:r>
              <a:rPr lang="en-US" sz="3000" b="1">
                <a:solidFill>
                  <a:srgbClr val="FFFFFF"/>
                </a:solidFill>
                <a:latin typeface="Inter"/>
                <a:ea typeface="Inter"/>
                <a:cs typeface="Inter"/>
                <a:sym typeface="Inter"/>
              </a:rPr>
              <a:t> to a Balanced Tree</a:t>
            </a:r>
            <a:endParaRPr/>
          </a:p>
        </p:txBody>
      </p:sp>
      <p:sp>
        <p:nvSpPr>
          <p:cNvPr id="204" name="Google Shape;204;p19"/>
          <p:cNvSpPr/>
          <p:nvPr/>
        </p:nvSpPr>
        <p:spPr>
          <a:xfrm>
            <a:off x="676275" y="1095375"/>
            <a:ext cx="1083945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5" name="Google Shape;205;p19"/>
          <p:cNvSpPr txBox="1"/>
          <p:nvPr/>
        </p:nvSpPr>
        <p:spPr>
          <a:xfrm>
            <a:off x="676275" y="1352550"/>
            <a:ext cx="9525000" cy="5484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Implementing a Balanced Tree is complex. A simpler, efficient alternative is the </a:t>
            </a:r>
            <a:r>
              <a:rPr lang="en-US" sz="1425" b="0" i="0" u="none" strike="noStrike" cap="none">
                <a:solidFill>
                  <a:srgbClr val="FFFFFF"/>
                </a:solidFill>
                <a:latin typeface="Inter SemiBold"/>
                <a:ea typeface="Inter SemiBold"/>
                <a:cs typeface="Inter SemiBold"/>
                <a:sym typeface="Inter SemiBold"/>
              </a:rPr>
              <a:t>Skip List</a:t>
            </a:r>
            <a:r>
              <a:rPr lang="en-US" sz="1425" b="0" i="0" u="none" strike="noStrike" cap="none">
                <a:solidFill>
                  <a:srgbClr val="D4D4D4"/>
                </a:solidFill>
                <a:latin typeface="Inter Light"/>
                <a:ea typeface="Inter Light"/>
                <a:cs typeface="Inter Light"/>
                <a:sym typeface="Inter Light"/>
              </a:rPr>
              <a:t>. It achieves the same speed (O(log </a:t>
            </a:r>
            <a:r>
              <a:rPr lang="en-US" sz="1425">
                <a:solidFill>
                  <a:srgbClr val="D4D4D4"/>
                </a:solidFill>
                <a:latin typeface="Inter Light"/>
                <a:ea typeface="Inter Light"/>
                <a:cs typeface="Inter Light"/>
                <a:sym typeface="Inter Light"/>
              </a:rPr>
              <a:t>N)) using</a:t>
            </a:r>
            <a:r>
              <a:rPr lang="en-US" sz="1425" b="0" i="0" u="none" strike="noStrike" cap="none">
                <a:solidFill>
                  <a:srgbClr val="D4D4D4"/>
                </a:solidFill>
                <a:latin typeface="Inter Light"/>
                <a:ea typeface="Inter Light"/>
                <a:cs typeface="Inter Light"/>
                <a:sym typeface="Inter Light"/>
              </a:rPr>
              <a:t> a simpler method.</a:t>
            </a:r>
            <a:endParaRPr/>
          </a:p>
        </p:txBody>
      </p:sp>
      <p:sp>
        <p:nvSpPr>
          <p:cNvPr id="206" name="Google Shape;206;p19"/>
          <p:cNvSpPr txBox="1"/>
          <p:nvPr/>
        </p:nvSpPr>
        <p:spPr>
          <a:xfrm>
            <a:off x="923925" y="2286000"/>
            <a:ext cx="4870608"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4ADE80"/>
                </a:solidFill>
                <a:latin typeface="Inter SemiBold"/>
                <a:ea typeface="Inter SemiBold"/>
                <a:cs typeface="Inter SemiBold"/>
                <a:sym typeface="Inter SemiBold"/>
              </a:rPr>
              <a:t>Random Levels</a:t>
            </a:r>
            <a:endParaRPr/>
          </a:p>
        </p:txBody>
      </p:sp>
      <p:sp>
        <p:nvSpPr>
          <p:cNvPr id="207" name="Google Shape;207;p19"/>
          <p:cNvSpPr txBox="1"/>
          <p:nvPr/>
        </p:nvSpPr>
        <p:spPr>
          <a:xfrm>
            <a:off x="923925" y="2628900"/>
            <a:ext cx="4638675"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 Skip List is a sorted list with extra layers. To create speed, we use a </a:t>
            </a:r>
            <a:r>
              <a:rPr lang="en-US" sz="1425" b="0" i="0" u="none" strike="noStrike" cap="none">
                <a:solidFill>
                  <a:srgbClr val="FFFFFF"/>
                </a:solidFill>
                <a:latin typeface="Inter SemiBold"/>
                <a:ea typeface="Inter SemiBold"/>
                <a:cs typeface="Inter SemiBold"/>
                <a:sym typeface="Inter SemiBold"/>
              </a:rPr>
              <a:t>Virtual Dice Roll</a:t>
            </a:r>
            <a:r>
              <a:rPr lang="en-US" sz="1425" b="0" i="0" u="none" strike="noStrike" cap="none">
                <a:solidFill>
                  <a:srgbClr val="D4D4D4"/>
                </a:solidFill>
                <a:latin typeface="Inter Light"/>
                <a:ea typeface="Inter Light"/>
                <a:cs typeface="Inter Light"/>
                <a:sym typeface="Inter Light"/>
              </a:rPr>
              <a:t>.</a:t>
            </a:r>
            <a:endParaRPr/>
          </a:p>
        </p:txBody>
      </p:sp>
      <p:sp>
        <p:nvSpPr>
          <p:cNvPr id="208" name="Google Shape;208;p19"/>
          <p:cNvSpPr txBox="1"/>
          <p:nvPr/>
        </p:nvSpPr>
        <p:spPr>
          <a:xfrm>
            <a:off x="6629400" y="2286000"/>
            <a:ext cx="4870608"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4ADE80"/>
                </a:solidFill>
                <a:latin typeface="Inter SemiBold"/>
                <a:ea typeface="Inter SemiBold"/>
                <a:cs typeface="Inter SemiBold"/>
                <a:sym typeface="Inter SemiBold"/>
              </a:rPr>
              <a:t>Advantages</a:t>
            </a:r>
            <a:endParaRPr/>
          </a:p>
        </p:txBody>
      </p:sp>
      <p:sp>
        <p:nvSpPr>
          <p:cNvPr id="209" name="Google Shape;209;p19"/>
          <p:cNvSpPr txBox="1"/>
          <p:nvPr/>
        </p:nvSpPr>
        <p:spPr>
          <a:xfrm>
            <a:off x="1009650" y="3464718"/>
            <a:ext cx="1047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t>
            </a:r>
            <a:endParaRPr/>
          </a:p>
        </p:txBody>
      </p:sp>
      <p:sp>
        <p:nvSpPr>
          <p:cNvPr id="210" name="Google Shape;210;p19"/>
          <p:cNvSpPr txBox="1"/>
          <p:nvPr/>
        </p:nvSpPr>
        <p:spPr>
          <a:xfrm>
            <a:off x="1114425" y="3467100"/>
            <a:ext cx="4448175" cy="814387"/>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FFFFFF"/>
                </a:solidFill>
                <a:latin typeface="Inter SemiBold"/>
                <a:ea typeface="Inter SemiBold"/>
                <a:cs typeface="Inter SemiBold"/>
                <a:sym typeface="Inter SemiBold"/>
              </a:rPr>
              <a:t>Distribution:</a:t>
            </a:r>
            <a:r>
              <a:rPr lang="en-US" sz="1425" b="0" i="0" u="none" strike="noStrike" cap="none">
                <a:solidFill>
                  <a:srgbClr val="D4D4D4"/>
                </a:solidFill>
                <a:latin typeface="Inter Light"/>
                <a:ea typeface="Inter Light"/>
                <a:cs typeface="Inter Light"/>
                <a:sym typeface="Inter Light"/>
              </a:rPr>
              <a:t> When adding a number, we roll a die. If high, it goes to the "Express Lane". If low, it stays in the "Slow Lane".</a:t>
            </a:r>
            <a:endParaRPr/>
          </a:p>
        </p:txBody>
      </p:sp>
      <p:sp>
        <p:nvSpPr>
          <p:cNvPr id="211" name="Google Shape;211;p19"/>
          <p:cNvSpPr txBox="1"/>
          <p:nvPr/>
        </p:nvSpPr>
        <p:spPr>
          <a:xfrm>
            <a:off x="1009650" y="4421981"/>
            <a:ext cx="1047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t>
            </a:r>
            <a:endParaRPr/>
          </a:p>
        </p:txBody>
      </p:sp>
      <p:sp>
        <p:nvSpPr>
          <p:cNvPr id="212" name="Google Shape;212;p19"/>
          <p:cNvSpPr txBox="1"/>
          <p:nvPr/>
        </p:nvSpPr>
        <p:spPr>
          <a:xfrm>
            <a:off x="1114425" y="4424362"/>
            <a:ext cx="4448175" cy="814387"/>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FFFFFF"/>
                </a:solidFill>
                <a:latin typeface="Inter SemiBold"/>
                <a:ea typeface="Inter SemiBold"/>
                <a:cs typeface="Inter SemiBold"/>
                <a:sym typeface="Inter SemiBold"/>
              </a:rPr>
              <a:t>Result:</a:t>
            </a:r>
            <a:r>
              <a:rPr lang="en-US" sz="1425" b="0" i="0" u="none" strike="noStrike" cap="none">
                <a:solidFill>
                  <a:srgbClr val="D4D4D4"/>
                </a:solidFill>
                <a:latin typeface="Inter Light"/>
                <a:ea typeface="Inter Light"/>
                <a:cs typeface="Inter Light"/>
                <a:sym typeface="Inter Light"/>
              </a:rPr>
              <a:t> This naturally creates a pyramid structure that is fast to search, without needing complex balancing math.</a:t>
            </a:r>
            <a:endParaRPr/>
          </a:p>
        </p:txBody>
      </p:sp>
      <p:sp>
        <p:nvSpPr>
          <p:cNvPr id="213" name="Google Shape;213;p19"/>
          <p:cNvSpPr txBox="1"/>
          <p:nvPr/>
        </p:nvSpPr>
        <p:spPr>
          <a:xfrm>
            <a:off x="6715125" y="2626518"/>
            <a:ext cx="1047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t>
            </a:r>
            <a:endParaRPr/>
          </a:p>
        </p:txBody>
      </p:sp>
      <p:sp>
        <p:nvSpPr>
          <p:cNvPr id="214" name="Google Shape;214;p19"/>
          <p:cNvSpPr txBox="1"/>
          <p:nvPr/>
        </p:nvSpPr>
        <p:spPr>
          <a:xfrm>
            <a:off x="6819900" y="2628900"/>
            <a:ext cx="4448175" cy="542925"/>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FFFFFF"/>
                </a:solidFill>
                <a:latin typeface="Inter SemiBold"/>
                <a:ea typeface="Inter SemiBold"/>
                <a:cs typeface="Inter SemiBold"/>
                <a:sym typeface="Inter SemiBold"/>
              </a:rPr>
              <a:t>Simplicity:</a:t>
            </a:r>
            <a:r>
              <a:rPr lang="en-US" sz="1425" b="0" i="0" u="none" strike="noStrike" cap="none">
                <a:solidFill>
                  <a:srgbClr val="D4D4D4"/>
                </a:solidFill>
                <a:latin typeface="Inter Light"/>
                <a:ea typeface="Inter Light"/>
                <a:cs typeface="Inter Light"/>
                <a:sym typeface="Inter Light"/>
              </a:rPr>
              <a:t> Much easier to program and fix than a tree.</a:t>
            </a:r>
            <a:endParaRPr/>
          </a:p>
        </p:txBody>
      </p:sp>
      <p:sp>
        <p:nvSpPr>
          <p:cNvPr id="215" name="Google Shape;215;p19"/>
          <p:cNvSpPr txBox="1"/>
          <p:nvPr/>
        </p:nvSpPr>
        <p:spPr>
          <a:xfrm>
            <a:off x="6715125" y="3312318"/>
            <a:ext cx="1047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t>
            </a:r>
            <a:endParaRPr/>
          </a:p>
        </p:txBody>
      </p:sp>
      <p:sp>
        <p:nvSpPr>
          <p:cNvPr id="216" name="Google Shape;216;p19"/>
          <p:cNvSpPr txBox="1"/>
          <p:nvPr/>
        </p:nvSpPr>
        <p:spPr>
          <a:xfrm>
            <a:off x="6819900" y="3314700"/>
            <a:ext cx="4448175" cy="542925"/>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FFFFFF"/>
                </a:solidFill>
                <a:latin typeface="Inter SemiBold"/>
                <a:ea typeface="Inter SemiBold"/>
                <a:cs typeface="Inter SemiBold"/>
                <a:sym typeface="Inter SemiBold"/>
              </a:rPr>
              <a:t>Concurrency:</a:t>
            </a:r>
            <a:r>
              <a:rPr lang="en-US" sz="1425" b="0" i="0" u="none" strike="noStrike" cap="none">
                <a:solidFill>
                  <a:srgbClr val="D4D4D4"/>
                </a:solidFill>
                <a:latin typeface="Inter Light"/>
                <a:ea typeface="Inter Light"/>
                <a:cs typeface="Inter Light"/>
                <a:sym typeface="Inter Light"/>
              </a:rPr>
              <a:t> Easier to update with multiple threads at once.</a:t>
            </a:r>
            <a:endParaRPr/>
          </a:p>
        </p:txBody>
      </p:sp>
      <p:sp>
        <p:nvSpPr>
          <p:cNvPr id="217" name="Google Shape;217;p19"/>
          <p:cNvSpPr txBox="1"/>
          <p:nvPr/>
        </p:nvSpPr>
        <p:spPr>
          <a:xfrm>
            <a:off x="6715125" y="3998118"/>
            <a:ext cx="1047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t>
            </a:r>
            <a:endParaRPr/>
          </a:p>
        </p:txBody>
      </p:sp>
      <p:sp>
        <p:nvSpPr>
          <p:cNvPr id="218" name="Google Shape;218;p19"/>
          <p:cNvSpPr txBox="1"/>
          <p:nvPr/>
        </p:nvSpPr>
        <p:spPr>
          <a:xfrm>
            <a:off x="6819900" y="4000500"/>
            <a:ext cx="4448175" cy="542925"/>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FFFFFF"/>
                </a:solidFill>
                <a:latin typeface="Inter SemiBold"/>
                <a:ea typeface="Inter SemiBold"/>
                <a:cs typeface="Inter SemiBold"/>
                <a:sym typeface="Inter SemiBold"/>
              </a:rPr>
              <a:t>Range Queries:</a:t>
            </a:r>
            <a:r>
              <a:rPr lang="en-US" sz="1425" b="0" i="0" u="none" strike="noStrike" cap="none">
                <a:solidFill>
                  <a:srgbClr val="D4D4D4"/>
                </a:solidFill>
                <a:latin typeface="Inter Light"/>
                <a:ea typeface="Inter Light"/>
                <a:cs typeface="Inter Light"/>
                <a:sym typeface="Inter Light"/>
              </a:rPr>
              <a:t> Very fast at finding groups (e.g., "Get ranks 50-100") by just walking the bottom layer.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Shape 222"/>
        <p:cNvGrpSpPr/>
        <p:nvPr/>
      </p:nvGrpSpPr>
      <p:grpSpPr>
        <a:xfrm>
          <a:off x="0" y="0"/>
          <a:ext cx="0" cy="0"/>
          <a:chOff x="0" y="0"/>
          <a:chExt cx="0" cy="0"/>
        </a:xfrm>
      </p:grpSpPr>
      <p:pic>
        <p:nvPicPr>
          <p:cNvPr id="223" name="Google Shape;223;p20" descr="image.png"/>
          <p:cNvPicPr preferRelativeResize="0"/>
          <p:nvPr/>
        </p:nvPicPr>
        <p:blipFill rotWithShape="1">
          <a:blip r:embed="rId3">
            <a:alphaModFix/>
          </a:blip>
          <a:srcRect/>
          <a:stretch/>
        </p:blipFill>
        <p:spPr>
          <a:xfrm>
            <a:off x="37958" y="-80963"/>
            <a:ext cx="12192000" cy="6858000"/>
          </a:xfrm>
          <a:prstGeom prst="rect">
            <a:avLst/>
          </a:prstGeom>
          <a:noFill/>
          <a:ln>
            <a:noFill/>
          </a:ln>
        </p:spPr>
      </p:pic>
      <p:pic>
        <p:nvPicPr>
          <p:cNvPr id="224" name="Google Shape;224;p20" descr="image.png"/>
          <p:cNvPicPr preferRelativeResize="0"/>
          <p:nvPr/>
        </p:nvPicPr>
        <p:blipFill rotWithShape="1">
          <a:blip r:embed="rId4">
            <a:alphaModFix/>
          </a:blip>
          <a:srcRect/>
          <a:stretch/>
        </p:blipFill>
        <p:spPr>
          <a:xfrm>
            <a:off x="2321968" y="1347787"/>
            <a:ext cx="7623980" cy="2857500"/>
          </a:xfrm>
          <a:prstGeom prst="rect">
            <a:avLst/>
          </a:prstGeom>
          <a:noFill/>
          <a:ln>
            <a:noFill/>
          </a:ln>
        </p:spPr>
      </p:pic>
      <p:pic>
        <p:nvPicPr>
          <p:cNvPr id="226" name="Google Shape;226;p20" descr="image.png"/>
          <p:cNvPicPr preferRelativeResize="0"/>
          <p:nvPr/>
        </p:nvPicPr>
        <p:blipFill rotWithShape="1">
          <a:blip r:embed="rId5">
            <a:alphaModFix/>
          </a:blip>
          <a:srcRect/>
          <a:stretch/>
        </p:blipFill>
        <p:spPr>
          <a:xfrm>
            <a:off x="4146701" y="2116454"/>
            <a:ext cx="377190" cy="377189"/>
          </a:xfrm>
          <a:prstGeom prst="rect">
            <a:avLst/>
          </a:prstGeom>
          <a:noFill/>
          <a:ln>
            <a:noFill/>
          </a:ln>
        </p:spPr>
      </p:pic>
      <p:pic>
        <p:nvPicPr>
          <p:cNvPr id="227" name="Google Shape;227;p20" descr="image.png"/>
          <p:cNvPicPr preferRelativeResize="0"/>
          <p:nvPr/>
        </p:nvPicPr>
        <p:blipFill rotWithShape="1">
          <a:blip r:embed="rId6">
            <a:alphaModFix/>
          </a:blip>
          <a:srcRect/>
          <a:stretch/>
        </p:blipFill>
        <p:spPr>
          <a:xfrm>
            <a:off x="6470802" y="2116454"/>
            <a:ext cx="377190" cy="377189"/>
          </a:xfrm>
          <a:prstGeom prst="rect">
            <a:avLst/>
          </a:prstGeom>
          <a:noFill/>
          <a:ln>
            <a:noFill/>
          </a:ln>
        </p:spPr>
      </p:pic>
      <p:pic>
        <p:nvPicPr>
          <p:cNvPr id="228" name="Google Shape;228;p20" descr="image.png"/>
          <p:cNvPicPr preferRelativeResize="0"/>
          <p:nvPr/>
        </p:nvPicPr>
        <p:blipFill rotWithShape="1">
          <a:blip r:embed="rId7">
            <a:alphaModFix/>
          </a:blip>
          <a:srcRect/>
          <a:stretch/>
        </p:blipFill>
        <p:spPr>
          <a:xfrm>
            <a:off x="8812047" y="2133600"/>
            <a:ext cx="342900" cy="342900"/>
          </a:xfrm>
          <a:prstGeom prst="rect">
            <a:avLst/>
          </a:prstGeom>
          <a:noFill/>
          <a:ln>
            <a:noFill/>
          </a:ln>
        </p:spPr>
      </p:pic>
      <p:pic>
        <p:nvPicPr>
          <p:cNvPr id="229" name="Google Shape;229;p20" descr="image.png"/>
          <p:cNvPicPr preferRelativeResize="0"/>
          <p:nvPr/>
        </p:nvPicPr>
        <p:blipFill rotWithShape="1">
          <a:blip r:embed="rId8">
            <a:alphaModFix/>
          </a:blip>
          <a:srcRect/>
          <a:stretch/>
        </p:blipFill>
        <p:spPr>
          <a:xfrm>
            <a:off x="4163847" y="2705100"/>
            <a:ext cx="342900" cy="342900"/>
          </a:xfrm>
          <a:prstGeom prst="rect">
            <a:avLst/>
          </a:prstGeom>
          <a:noFill/>
          <a:ln>
            <a:noFill/>
          </a:ln>
        </p:spPr>
      </p:pic>
      <p:pic>
        <p:nvPicPr>
          <p:cNvPr id="230" name="Google Shape;230;p20" descr="image.png"/>
          <p:cNvPicPr preferRelativeResize="0"/>
          <p:nvPr/>
        </p:nvPicPr>
        <p:blipFill rotWithShape="1">
          <a:blip r:embed="rId9">
            <a:alphaModFix/>
          </a:blip>
          <a:srcRect/>
          <a:stretch/>
        </p:blipFill>
        <p:spPr>
          <a:xfrm>
            <a:off x="5325897" y="2705100"/>
            <a:ext cx="342900" cy="342900"/>
          </a:xfrm>
          <a:prstGeom prst="rect">
            <a:avLst/>
          </a:prstGeom>
          <a:noFill/>
          <a:ln>
            <a:noFill/>
          </a:ln>
        </p:spPr>
      </p:pic>
      <p:pic>
        <p:nvPicPr>
          <p:cNvPr id="231" name="Google Shape;231;p20" descr="image.png"/>
          <p:cNvPicPr preferRelativeResize="0"/>
          <p:nvPr/>
        </p:nvPicPr>
        <p:blipFill rotWithShape="1">
          <a:blip r:embed="rId10">
            <a:alphaModFix/>
          </a:blip>
          <a:srcRect/>
          <a:stretch/>
        </p:blipFill>
        <p:spPr>
          <a:xfrm>
            <a:off x="6470802" y="2687955"/>
            <a:ext cx="377190" cy="377189"/>
          </a:xfrm>
          <a:prstGeom prst="rect">
            <a:avLst/>
          </a:prstGeom>
          <a:noFill/>
          <a:ln>
            <a:noFill/>
          </a:ln>
        </p:spPr>
      </p:pic>
      <p:pic>
        <p:nvPicPr>
          <p:cNvPr id="232" name="Google Shape;232;p20" descr="image.png"/>
          <p:cNvPicPr preferRelativeResize="0"/>
          <p:nvPr/>
        </p:nvPicPr>
        <p:blipFill rotWithShape="1">
          <a:blip r:embed="rId11">
            <a:alphaModFix/>
          </a:blip>
          <a:srcRect/>
          <a:stretch/>
        </p:blipFill>
        <p:spPr>
          <a:xfrm>
            <a:off x="7632852" y="2687955"/>
            <a:ext cx="377190" cy="377189"/>
          </a:xfrm>
          <a:prstGeom prst="rect">
            <a:avLst/>
          </a:prstGeom>
          <a:noFill/>
          <a:ln>
            <a:noFill/>
          </a:ln>
        </p:spPr>
      </p:pic>
      <p:pic>
        <p:nvPicPr>
          <p:cNvPr id="233" name="Google Shape;233;p20" descr="image.png"/>
          <p:cNvPicPr preferRelativeResize="0"/>
          <p:nvPr/>
        </p:nvPicPr>
        <p:blipFill rotWithShape="1">
          <a:blip r:embed="rId12">
            <a:alphaModFix/>
          </a:blip>
          <a:srcRect/>
          <a:stretch/>
        </p:blipFill>
        <p:spPr>
          <a:xfrm>
            <a:off x="8812047" y="2705100"/>
            <a:ext cx="342900" cy="342900"/>
          </a:xfrm>
          <a:prstGeom prst="rect">
            <a:avLst/>
          </a:prstGeom>
          <a:noFill/>
          <a:ln>
            <a:noFill/>
          </a:ln>
        </p:spPr>
      </p:pic>
      <p:pic>
        <p:nvPicPr>
          <p:cNvPr id="234" name="Google Shape;234;p20" descr="image.png"/>
          <p:cNvPicPr preferRelativeResize="0"/>
          <p:nvPr/>
        </p:nvPicPr>
        <p:blipFill rotWithShape="1">
          <a:blip r:embed="rId8">
            <a:alphaModFix/>
          </a:blip>
          <a:srcRect/>
          <a:stretch/>
        </p:blipFill>
        <p:spPr>
          <a:xfrm>
            <a:off x="4163847" y="3276600"/>
            <a:ext cx="342900" cy="342900"/>
          </a:xfrm>
          <a:prstGeom prst="rect">
            <a:avLst/>
          </a:prstGeom>
          <a:noFill/>
          <a:ln>
            <a:noFill/>
          </a:ln>
        </p:spPr>
      </p:pic>
      <p:pic>
        <p:nvPicPr>
          <p:cNvPr id="235" name="Google Shape;235;p20" descr="image.png"/>
          <p:cNvPicPr preferRelativeResize="0"/>
          <p:nvPr/>
        </p:nvPicPr>
        <p:blipFill rotWithShape="1">
          <a:blip r:embed="rId13">
            <a:alphaModFix/>
          </a:blip>
          <a:srcRect/>
          <a:stretch/>
        </p:blipFill>
        <p:spPr>
          <a:xfrm>
            <a:off x="4744872" y="3276600"/>
            <a:ext cx="342900" cy="342900"/>
          </a:xfrm>
          <a:prstGeom prst="rect">
            <a:avLst/>
          </a:prstGeom>
          <a:noFill/>
          <a:ln>
            <a:noFill/>
          </a:ln>
        </p:spPr>
      </p:pic>
      <p:pic>
        <p:nvPicPr>
          <p:cNvPr id="236" name="Google Shape;236;p20" descr="image.png"/>
          <p:cNvPicPr preferRelativeResize="0"/>
          <p:nvPr/>
        </p:nvPicPr>
        <p:blipFill rotWithShape="1">
          <a:blip r:embed="rId9">
            <a:alphaModFix/>
          </a:blip>
          <a:srcRect/>
          <a:stretch/>
        </p:blipFill>
        <p:spPr>
          <a:xfrm>
            <a:off x="5325897" y="3276600"/>
            <a:ext cx="342900" cy="342900"/>
          </a:xfrm>
          <a:prstGeom prst="rect">
            <a:avLst/>
          </a:prstGeom>
          <a:noFill/>
          <a:ln>
            <a:noFill/>
          </a:ln>
        </p:spPr>
      </p:pic>
      <p:pic>
        <p:nvPicPr>
          <p:cNvPr id="237" name="Google Shape;237;p20" descr="image.png"/>
          <p:cNvPicPr preferRelativeResize="0"/>
          <p:nvPr/>
        </p:nvPicPr>
        <p:blipFill rotWithShape="1">
          <a:blip r:embed="rId14">
            <a:alphaModFix/>
          </a:blip>
          <a:srcRect/>
          <a:stretch/>
        </p:blipFill>
        <p:spPr>
          <a:xfrm>
            <a:off x="5906922" y="3276600"/>
            <a:ext cx="342900" cy="342900"/>
          </a:xfrm>
          <a:prstGeom prst="rect">
            <a:avLst/>
          </a:prstGeom>
          <a:noFill/>
          <a:ln>
            <a:noFill/>
          </a:ln>
        </p:spPr>
      </p:pic>
      <p:pic>
        <p:nvPicPr>
          <p:cNvPr id="238" name="Google Shape;238;p20" descr="image.png"/>
          <p:cNvPicPr preferRelativeResize="0"/>
          <p:nvPr/>
        </p:nvPicPr>
        <p:blipFill rotWithShape="1">
          <a:blip r:embed="rId15">
            <a:alphaModFix/>
          </a:blip>
          <a:srcRect/>
          <a:stretch/>
        </p:blipFill>
        <p:spPr>
          <a:xfrm>
            <a:off x="6487947" y="3276600"/>
            <a:ext cx="342900" cy="342900"/>
          </a:xfrm>
          <a:prstGeom prst="rect">
            <a:avLst/>
          </a:prstGeom>
          <a:noFill/>
          <a:ln>
            <a:noFill/>
          </a:ln>
        </p:spPr>
      </p:pic>
      <p:pic>
        <p:nvPicPr>
          <p:cNvPr id="239" name="Google Shape;239;p20" descr="image.png"/>
          <p:cNvPicPr preferRelativeResize="0"/>
          <p:nvPr/>
        </p:nvPicPr>
        <p:blipFill rotWithShape="1">
          <a:blip r:embed="rId16">
            <a:alphaModFix/>
          </a:blip>
          <a:srcRect/>
          <a:stretch/>
        </p:blipFill>
        <p:spPr>
          <a:xfrm>
            <a:off x="7068972" y="3276600"/>
            <a:ext cx="342900" cy="342900"/>
          </a:xfrm>
          <a:prstGeom prst="rect">
            <a:avLst/>
          </a:prstGeom>
          <a:noFill/>
          <a:ln>
            <a:noFill/>
          </a:ln>
        </p:spPr>
      </p:pic>
      <p:pic>
        <p:nvPicPr>
          <p:cNvPr id="240" name="Google Shape;240;p20" descr="image.png"/>
          <p:cNvPicPr preferRelativeResize="0"/>
          <p:nvPr/>
        </p:nvPicPr>
        <p:blipFill rotWithShape="1">
          <a:blip r:embed="rId11">
            <a:alphaModFix/>
          </a:blip>
          <a:srcRect/>
          <a:stretch/>
        </p:blipFill>
        <p:spPr>
          <a:xfrm>
            <a:off x="7632852" y="3259455"/>
            <a:ext cx="377190" cy="377189"/>
          </a:xfrm>
          <a:prstGeom prst="rect">
            <a:avLst/>
          </a:prstGeom>
          <a:noFill/>
          <a:ln>
            <a:noFill/>
          </a:ln>
        </p:spPr>
      </p:pic>
      <p:pic>
        <p:nvPicPr>
          <p:cNvPr id="241" name="Google Shape;241;p20" descr="image.png"/>
          <p:cNvPicPr preferRelativeResize="0"/>
          <p:nvPr/>
        </p:nvPicPr>
        <p:blipFill rotWithShape="1">
          <a:blip r:embed="rId17">
            <a:alphaModFix/>
          </a:blip>
          <a:srcRect/>
          <a:stretch/>
        </p:blipFill>
        <p:spPr>
          <a:xfrm>
            <a:off x="8213877" y="3259455"/>
            <a:ext cx="377190" cy="377189"/>
          </a:xfrm>
          <a:prstGeom prst="rect">
            <a:avLst/>
          </a:prstGeom>
          <a:noFill/>
          <a:ln>
            <a:noFill/>
          </a:ln>
        </p:spPr>
      </p:pic>
      <p:pic>
        <p:nvPicPr>
          <p:cNvPr id="242" name="Google Shape;242;p20" descr="image.png"/>
          <p:cNvPicPr preferRelativeResize="0"/>
          <p:nvPr/>
        </p:nvPicPr>
        <p:blipFill rotWithShape="1">
          <a:blip r:embed="rId12">
            <a:alphaModFix/>
          </a:blip>
          <a:srcRect/>
          <a:stretch/>
        </p:blipFill>
        <p:spPr>
          <a:xfrm>
            <a:off x="8812047" y="3276600"/>
            <a:ext cx="342900" cy="342900"/>
          </a:xfrm>
          <a:prstGeom prst="rect">
            <a:avLst/>
          </a:prstGeom>
          <a:noFill/>
          <a:ln>
            <a:noFill/>
          </a:ln>
        </p:spPr>
      </p:pic>
      <p:sp>
        <p:nvSpPr>
          <p:cNvPr id="243" name="Google Shape;243;p20"/>
          <p:cNvSpPr txBox="1"/>
          <p:nvPr/>
        </p:nvSpPr>
        <p:spPr>
          <a:xfrm>
            <a:off x="676275" y="485775"/>
            <a:ext cx="11381422"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FFFFF"/>
                </a:solidFill>
                <a:latin typeface="Inter"/>
                <a:ea typeface="Inter"/>
                <a:cs typeface="Inter"/>
                <a:sym typeface="Inter"/>
              </a:rPr>
              <a:t>Visual Example: Skip List Search Path</a:t>
            </a:r>
            <a:endParaRPr/>
          </a:p>
        </p:txBody>
      </p:sp>
      <p:sp>
        <p:nvSpPr>
          <p:cNvPr id="244" name="Google Shape;244;p20"/>
          <p:cNvSpPr/>
          <p:nvPr/>
        </p:nvSpPr>
        <p:spPr>
          <a:xfrm>
            <a:off x="676275" y="1095375"/>
            <a:ext cx="1083945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5" name="Google Shape;245;p20"/>
          <p:cNvSpPr txBox="1"/>
          <p:nvPr/>
        </p:nvSpPr>
        <p:spPr>
          <a:xfrm>
            <a:off x="2573172" y="1842016"/>
            <a:ext cx="6191250"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FFFFFF"/>
                </a:solidFill>
                <a:latin typeface="Inter"/>
                <a:ea typeface="Inter"/>
                <a:cs typeface="Inter"/>
                <a:sym typeface="Inter"/>
              </a:rPr>
              <a:t>SEARCH PATH FOR SCORE 80</a:t>
            </a:r>
            <a:endParaRPr dirty="0"/>
          </a:p>
        </p:txBody>
      </p:sp>
      <p:sp>
        <p:nvSpPr>
          <p:cNvPr id="255" name="Google Shape;255;p20"/>
          <p:cNvSpPr txBox="1"/>
          <p:nvPr/>
        </p:nvSpPr>
        <p:spPr>
          <a:xfrm>
            <a:off x="3373272" y="2205037"/>
            <a:ext cx="28575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666666"/>
                </a:solidFill>
                <a:latin typeface="JetBrains Mono"/>
                <a:ea typeface="JetBrains Mono"/>
                <a:cs typeface="JetBrains Mono"/>
                <a:sym typeface="JetBrains Mono"/>
              </a:rPr>
              <a:t>L2</a:t>
            </a:r>
            <a:endParaRPr dirty="0"/>
          </a:p>
        </p:txBody>
      </p:sp>
      <p:sp>
        <p:nvSpPr>
          <p:cNvPr id="256" name="Google Shape;256;p20"/>
          <p:cNvSpPr txBox="1"/>
          <p:nvPr/>
        </p:nvSpPr>
        <p:spPr>
          <a:xfrm>
            <a:off x="3373272" y="2776537"/>
            <a:ext cx="28575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666666"/>
                </a:solidFill>
                <a:latin typeface="JetBrains Mono"/>
                <a:ea typeface="JetBrains Mono"/>
                <a:cs typeface="JetBrains Mono"/>
                <a:sym typeface="JetBrains Mono"/>
              </a:rPr>
              <a:t>L1</a:t>
            </a:r>
            <a:endParaRPr/>
          </a:p>
        </p:txBody>
      </p:sp>
      <p:sp>
        <p:nvSpPr>
          <p:cNvPr id="257" name="Google Shape;257;p20"/>
          <p:cNvSpPr txBox="1"/>
          <p:nvPr/>
        </p:nvSpPr>
        <p:spPr>
          <a:xfrm>
            <a:off x="3373272" y="3348037"/>
            <a:ext cx="28575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666666"/>
                </a:solidFill>
                <a:latin typeface="JetBrains Mono"/>
                <a:ea typeface="JetBrains Mono"/>
                <a:cs typeface="JetBrains Mono"/>
                <a:sym typeface="JetBrains Mono"/>
              </a:rPr>
              <a:t>L0</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Shape 261"/>
        <p:cNvGrpSpPr/>
        <p:nvPr/>
      </p:nvGrpSpPr>
      <p:grpSpPr>
        <a:xfrm>
          <a:off x="0" y="0"/>
          <a:ext cx="0" cy="0"/>
          <a:chOff x="0" y="0"/>
          <a:chExt cx="0" cy="0"/>
        </a:xfrm>
      </p:grpSpPr>
      <p:pic>
        <p:nvPicPr>
          <p:cNvPr id="262" name="Google Shape;262;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63" name="Google Shape;263;p21" descr="image.png"/>
          <p:cNvPicPr preferRelativeResize="0"/>
          <p:nvPr/>
        </p:nvPicPr>
        <p:blipFill rotWithShape="1">
          <a:blip r:embed="rId4">
            <a:alphaModFix/>
          </a:blip>
          <a:srcRect/>
          <a:stretch/>
        </p:blipFill>
        <p:spPr>
          <a:xfrm>
            <a:off x="676275" y="2228850"/>
            <a:ext cx="3422600" cy="4143375"/>
          </a:xfrm>
          <a:prstGeom prst="rect">
            <a:avLst/>
          </a:prstGeom>
          <a:noFill/>
          <a:ln>
            <a:noFill/>
          </a:ln>
        </p:spPr>
      </p:pic>
      <p:pic>
        <p:nvPicPr>
          <p:cNvPr id="264" name="Google Shape;264;p21" descr="image.png"/>
          <p:cNvPicPr preferRelativeResize="0"/>
          <p:nvPr/>
        </p:nvPicPr>
        <p:blipFill rotWithShape="1">
          <a:blip r:embed="rId5">
            <a:alphaModFix/>
          </a:blip>
          <a:srcRect/>
          <a:stretch/>
        </p:blipFill>
        <p:spPr>
          <a:xfrm>
            <a:off x="4384625" y="2228850"/>
            <a:ext cx="3422600" cy="4143375"/>
          </a:xfrm>
          <a:prstGeom prst="rect">
            <a:avLst/>
          </a:prstGeom>
          <a:noFill/>
          <a:ln>
            <a:noFill/>
          </a:ln>
        </p:spPr>
      </p:pic>
      <p:pic>
        <p:nvPicPr>
          <p:cNvPr id="265" name="Google Shape;265;p21" descr="image.png"/>
          <p:cNvPicPr preferRelativeResize="0"/>
          <p:nvPr/>
        </p:nvPicPr>
        <p:blipFill rotWithShape="1">
          <a:blip r:embed="rId6">
            <a:alphaModFix/>
          </a:blip>
          <a:srcRect/>
          <a:stretch/>
        </p:blipFill>
        <p:spPr>
          <a:xfrm>
            <a:off x="8092975" y="2228850"/>
            <a:ext cx="3422749" cy="4143375"/>
          </a:xfrm>
          <a:prstGeom prst="rect">
            <a:avLst/>
          </a:prstGeom>
          <a:noFill/>
          <a:ln>
            <a:noFill/>
          </a:ln>
        </p:spPr>
      </p:pic>
      <p:sp>
        <p:nvSpPr>
          <p:cNvPr id="266" name="Google Shape;266;p21"/>
          <p:cNvSpPr txBox="1"/>
          <p:nvPr/>
        </p:nvSpPr>
        <p:spPr>
          <a:xfrm>
            <a:off x="676275" y="485775"/>
            <a:ext cx="11381422"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FFFFF"/>
                </a:solidFill>
                <a:latin typeface="Inter"/>
                <a:ea typeface="Inter"/>
                <a:cs typeface="Inter"/>
                <a:sym typeface="Inter"/>
              </a:rPr>
              <a:t>The Risk: Saving Data</a:t>
            </a:r>
            <a:endParaRPr/>
          </a:p>
        </p:txBody>
      </p:sp>
      <p:sp>
        <p:nvSpPr>
          <p:cNvPr id="267" name="Google Shape;267;p21"/>
          <p:cNvSpPr/>
          <p:nvPr/>
        </p:nvSpPr>
        <p:spPr>
          <a:xfrm>
            <a:off x="676275" y="1095375"/>
            <a:ext cx="1083945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8" name="Google Shape;268;p21"/>
          <p:cNvSpPr txBox="1"/>
          <p:nvPr/>
        </p:nvSpPr>
        <p:spPr>
          <a:xfrm>
            <a:off x="676275" y="1352550"/>
            <a:ext cx="10839450"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Since the ranking structure resides in volatile RAM for maximum speed, a critical failure (like a power outage) wipes the leaderboard clean. We need safety nets.</a:t>
            </a:r>
            <a:endParaRPr/>
          </a:p>
        </p:txBody>
      </p:sp>
      <p:sp>
        <p:nvSpPr>
          <p:cNvPr id="269" name="Google Shape;269;p21"/>
          <p:cNvSpPr txBox="1"/>
          <p:nvPr/>
        </p:nvSpPr>
        <p:spPr>
          <a:xfrm>
            <a:off x="923925" y="2476500"/>
            <a:ext cx="3073665"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4ADE80"/>
                </a:solidFill>
                <a:latin typeface="Inter SemiBold"/>
                <a:ea typeface="Inter SemiBold"/>
                <a:cs typeface="Inter SemiBold"/>
                <a:sym typeface="Inter SemiBold"/>
              </a:rPr>
              <a:t>1. Snapshots</a:t>
            </a:r>
            <a:endParaRPr/>
          </a:p>
        </p:txBody>
      </p:sp>
      <p:sp>
        <p:nvSpPr>
          <p:cNvPr id="270" name="Google Shape;270;p21"/>
          <p:cNvSpPr txBox="1"/>
          <p:nvPr/>
        </p:nvSpPr>
        <p:spPr>
          <a:xfrm>
            <a:off x="923925" y="2819400"/>
            <a:ext cx="2927300"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The system periodically saves a full copy of the entire memory state to the hard drive (disk).</a:t>
            </a:r>
            <a:endParaRPr/>
          </a:p>
        </p:txBody>
      </p:sp>
      <p:sp>
        <p:nvSpPr>
          <p:cNvPr id="271" name="Google Shape;271;p21"/>
          <p:cNvSpPr txBox="1"/>
          <p:nvPr/>
        </p:nvSpPr>
        <p:spPr>
          <a:xfrm>
            <a:off x="923925" y="4300537"/>
            <a:ext cx="2927300" cy="4000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dirty="0">
                <a:solidFill>
                  <a:srgbClr val="FFFFFF"/>
                </a:solidFill>
                <a:latin typeface="Inter SemiBold"/>
                <a:ea typeface="Inter SemiBold"/>
                <a:cs typeface="Inter SemiBold"/>
                <a:sym typeface="Inter SemiBold"/>
              </a:rPr>
              <a:t>Drawback:</a:t>
            </a:r>
            <a:r>
              <a:rPr lang="en-US" sz="1050" b="0" i="0" u="none" strike="noStrike" cap="none" dirty="0">
                <a:solidFill>
                  <a:srgbClr val="EF4444"/>
                </a:solidFill>
                <a:latin typeface="Inter Light"/>
                <a:ea typeface="Inter Light"/>
                <a:cs typeface="Inter Light"/>
                <a:sym typeface="Inter Light"/>
              </a:rPr>
              <a:t> Data created between snapshots is lost upon crash.</a:t>
            </a:r>
            <a:endParaRPr dirty="0"/>
          </a:p>
        </p:txBody>
      </p:sp>
      <p:sp>
        <p:nvSpPr>
          <p:cNvPr id="272" name="Google Shape;272;p21"/>
          <p:cNvSpPr txBox="1"/>
          <p:nvPr/>
        </p:nvSpPr>
        <p:spPr>
          <a:xfrm>
            <a:off x="4632275" y="2476500"/>
            <a:ext cx="3073665"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4ADE80"/>
                </a:solidFill>
                <a:latin typeface="Inter SemiBold"/>
                <a:ea typeface="Inter SemiBold"/>
                <a:cs typeface="Inter SemiBold"/>
                <a:sym typeface="Inter SemiBold"/>
              </a:rPr>
              <a:t>2. Action Log</a:t>
            </a:r>
            <a:endParaRPr/>
          </a:p>
        </p:txBody>
      </p:sp>
      <p:sp>
        <p:nvSpPr>
          <p:cNvPr id="273" name="Google Shape;273;p21"/>
          <p:cNvSpPr txBox="1"/>
          <p:nvPr/>
        </p:nvSpPr>
        <p:spPr>
          <a:xfrm>
            <a:off x="4632275" y="2819400"/>
            <a:ext cx="2927300"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Every single write command (e.g., "Add 50 pts to Player X") is logged to a text file on disk instantly.</a:t>
            </a:r>
            <a:endParaRPr/>
          </a:p>
        </p:txBody>
      </p:sp>
      <p:sp>
        <p:nvSpPr>
          <p:cNvPr id="274" name="Google Shape;274;p21"/>
          <p:cNvSpPr txBox="1"/>
          <p:nvPr/>
        </p:nvSpPr>
        <p:spPr>
          <a:xfrm>
            <a:off x="4632275" y="4300537"/>
            <a:ext cx="2927300" cy="4000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dirty="0">
                <a:solidFill>
                  <a:srgbClr val="FFFFFF"/>
                </a:solidFill>
                <a:latin typeface="Inter SemiBold"/>
                <a:ea typeface="Inter SemiBold"/>
                <a:cs typeface="Inter SemiBold"/>
                <a:sym typeface="Inter SemiBold"/>
              </a:rPr>
              <a:t>Benefit:</a:t>
            </a:r>
            <a:r>
              <a:rPr lang="en-US" sz="1050" b="0" i="0" u="none" strike="noStrike" cap="none" dirty="0">
                <a:solidFill>
                  <a:srgbClr val="4ADE80"/>
                </a:solidFill>
                <a:latin typeface="Inter Light"/>
                <a:ea typeface="Inter Light"/>
                <a:cs typeface="Inter Light"/>
                <a:sym typeface="Inter Light"/>
              </a:rPr>
              <a:t> Minimal data loss. On reboot, the server "replays" the log to rebuild memory.</a:t>
            </a:r>
            <a:endParaRPr dirty="0"/>
          </a:p>
        </p:txBody>
      </p:sp>
      <p:sp>
        <p:nvSpPr>
          <p:cNvPr id="275" name="Google Shape;275;p21"/>
          <p:cNvSpPr txBox="1"/>
          <p:nvPr/>
        </p:nvSpPr>
        <p:spPr>
          <a:xfrm>
            <a:off x="8340625" y="2476500"/>
            <a:ext cx="3073821"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4ADE80"/>
                </a:solidFill>
                <a:latin typeface="Inter SemiBold"/>
                <a:ea typeface="Inter SemiBold"/>
                <a:cs typeface="Inter SemiBold"/>
                <a:sym typeface="Inter SemiBold"/>
              </a:rPr>
              <a:t>3. Background Copy</a:t>
            </a:r>
            <a:endParaRPr/>
          </a:p>
        </p:txBody>
      </p:sp>
      <p:sp>
        <p:nvSpPr>
          <p:cNvPr id="276" name="Google Shape;276;p21"/>
          <p:cNvSpPr txBox="1"/>
          <p:nvPr/>
        </p:nvSpPr>
        <p:spPr>
          <a:xfrm>
            <a:off x="8340625" y="2819400"/>
            <a:ext cx="2927449" cy="135731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The RAM structure handles real-time reads, while a separate background process quietly copies results to a durable SQL database for long-term storage.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Shape 280"/>
        <p:cNvGrpSpPr/>
        <p:nvPr/>
      </p:nvGrpSpPr>
      <p:grpSpPr>
        <a:xfrm>
          <a:off x="0" y="0"/>
          <a:ext cx="0" cy="0"/>
          <a:chOff x="0" y="0"/>
          <a:chExt cx="0" cy="0"/>
        </a:xfrm>
      </p:grpSpPr>
      <p:pic>
        <p:nvPicPr>
          <p:cNvPr id="281" name="Google Shape;281;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82" name="Google Shape;282;p22" descr="image.png"/>
          <p:cNvPicPr preferRelativeResize="0"/>
          <p:nvPr/>
        </p:nvPicPr>
        <p:blipFill rotWithShape="1">
          <a:blip r:embed="rId4">
            <a:alphaModFix/>
          </a:blip>
          <a:srcRect/>
          <a:stretch/>
        </p:blipFill>
        <p:spPr>
          <a:xfrm>
            <a:off x="676275" y="1957387"/>
            <a:ext cx="3422600" cy="4414837"/>
          </a:xfrm>
          <a:prstGeom prst="rect">
            <a:avLst/>
          </a:prstGeom>
          <a:noFill/>
          <a:ln>
            <a:noFill/>
          </a:ln>
        </p:spPr>
      </p:pic>
      <p:pic>
        <p:nvPicPr>
          <p:cNvPr id="283" name="Google Shape;283;p22" descr="image.png"/>
          <p:cNvPicPr preferRelativeResize="0"/>
          <p:nvPr/>
        </p:nvPicPr>
        <p:blipFill rotWithShape="1">
          <a:blip r:embed="rId5">
            <a:alphaModFix/>
          </a:blip>
          <a:srcRect/>
          <a:stretch/>
        </p:blipFill>
        <p:spPr>
          <a:xfrm>
            <a:off x="4384625" y="1957387"/>
            <a:ext cx="3422600" cy="4414837"/>
          </a:xfrm>
          <a:prstGeom prst="rect">
            <a:avLst/>
          </a:prstGeom>
          <a:noFill/>
          <a:ln>
            <a:noFill/>
          </a:ln>
        </p:spPr>
      </p:pic>
      <p:pic>
        <p:nvPicPr>
          <p:cNvPr id="284" name="Google Shape;284;p22" descr="image.png"/>
          <p:cNvPicPr preferRelativeResize="0"/>
          <p:nvPr/>
        </p:nvPicPr>
        <p:blipFill rotWithShape="1">
          <a:blip r:embed="rId6">
            <a:alphaModFix/>
          </a:blip>
          <a:srcRect/>
          <a:stretch/>
        </p:blipFill>
        <p:spPr>
          <a:xfrm>
            <a:off x="8092975" y="1957387"/>
            <a:ext cx="3422749" cy="4414837"/>
          </a:xfrm>
          <a:prstGeom prst="rect">
            <a:avLst/>
          </a:prstGeom>
          <a:noFill/>
          <a:ln>
            <a:noFill/>
          </a:ln>
        </p:spPr>
      </p:pic>
      <p:sp>
        <p:nvSpPr>
          <p:cNvPr id="285" name="Google Shape;285;p22"/>
          <p:cNvSpPr txBox="1"/>
          <p:nvPr/>
        </p:nvSpPr>
        <p:spPr>
          <a:xfrm>
            <a:off x="676275" y="485775"/>
            <a:ext cx="11381422"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FFFFF"/>
                </a:solidFill>
                <a:latin typeface="Inter"/>
                <a:ea typeface="Inter"/>
                <a:cs typeface="Inter"/>
                <a:sym typeface="Inter"/>
              </a:rPr>
              <a:t>Scaling: Splitting Data</a:t>
            </a:r>
            <a:endParaRPr/>
          </a:p>
        </p:txBody>
      </p:sp>
      <p:sp>
        <p:nvSpPr>
          <p:cNvPr id="286" name="Google Shape;286;p22"/>
          <p:cNvSpPr/>
          <p:nvPr/>
        </p:nvSpPr>
        <p:spPr>
          <a:xfrm>
            <a:off x="676275" y="1095375"/>
            <a:ext cx="1083945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7" name="Google Shape;287;p22"/>
          <p:cNvSpPr txBox="1"/>
          <p:nvPr/>
        </p:nvSpPr>
        <p:spPr>
          <a:xfrm>
            <a:off x="676275" y="1352550"/>
            <a:ext cx="10839600" cy="2193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If a leaderboard reaches hundreds of millions of users, the data must be split across multiple machines.</a:t>
            </a:r>
            <a:endParaRPr/>
          </a:p>
        </p:txBody>
      </p:sp>
      <p:sp>
        <p:nvSpPr>
          <p:cNvPr id="288" name="Google Shape;288;p22"/>
          <p:cNvSpPr txBox="1"/>
          <p:nvPr/>
        </p:nvSpPr>
        <p:spPr>
          <a:xfrm>
            <a:off x="923925" y="2205037"/>
            <a:ext cx="3073665"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4ADE80"/>
                </a:solidFill>
                <a:latin typeface="Inter SemiBold"/>
                <a:ea typeface="Inter SemiBold"/>
                <a:cs typeface="Inter SemiBold"/>
                <a:sym typeface="Inter SemiBold"/>
              </a:rPr>
              <a:t>Split by Score</a:t>
            </a:r>
            <a:endParaRPr/>
          </a:p>
        </p:txBody>
      </p:sp>
      <p:sp>
        <p:nvSpPr>
          <p:cNvPr id="289" name="Google Shape;289;p22"/>
          <p:cNvSpPr txBox="1"/>
          <p:nvPr/>
        </p:nvSpPr>
        <p:spPr>
          <a:xfrm>
            <a:off x="923925" y="2547937"/>
            <a:ext cx="2927300" cy="108585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Data is split by score range (e.g., Server A handles 0-1000 points, Server B handles 1001-5000 points).</a:t>
            </a:r>
            <a:endParaRPr/>
          </a:p>
        </p:txBody>
      </p:sp>
      <p:sp>
        <p:nvSpPr>
          <p:cNvPr id="290" name="Google Shape;290;p22"/>
          <p:cNvSpPr txBox="1"/>
          <p:nvPr/>
        </p:nvSpPr>
        <p:spPr>
          <a:xfrm>
            <a:off x="923925" y="5381625"/>
            <a:ext cx="2927300" cy="6000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FFFFFF"/>
                </a:solidFill>
                <a:latin typeface="Inter SemiBold"/>
                <a:ea typeface="Inter SemiBold"/>
                <a:cs typeface="Inter SemiBold"/>
                <a:sym typeface="Inter SemiBold"/>
              </a:rPr>
              <a:t>Risk:</a:t>
            </a:r>
            <a:r>
              <a:rPr lang="en-US" sz="1050" b="0" i="0" u="none" strike="noStrike" cap="none">
                <a:solidFill>
                  <a:srgbClr val="EF4444"/>
                </a:solidFill>
                <a:latin typeface="Inter Light"/>
                <a:ea typeface="Inter Light"/>
                <a:cs typeface="Inter Light"/>
                <a:sym typeface="Inter Light"/>
              </a:rPr>
              <a:t> Creates "Hot Spots." If everyone is stuck at 0 points, one server does all the work and gets overloaded.</a:t>
            </a:r>
            <a:endParaRPr/>
          </a:p>
        </p:txBody>
      </p:sp>
      <p:sp>
        <p:nvSpPr>
          <p:cNvPr id="291" name="Google Shape;291;p22"/>
          <p:cNvSpPr txBox="1"/>
          <p:nvPr/>
        </p:nvSpPr>
        <p:spPr>
          <a:xfrm>
            <a:off x="4632275" y="2205037"/>
            <a:ext cx="3073665"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4ADE80"/>
                </a:solidFill>
                <a:latin typeface="Inter SemiBold"/>
                <a:ea typeface="Inter SemiBold"/>
                <a:cs typeface="Inter SemiBold"/>
                <a:sym typeface="Inter SemiBold"/>
              </a:rPr>
              <a:t>Split by ID</a:t>
            </a:r>
            <a:endParaRPr/>
          </a:p>
        </p:txBody>
      </p:sp>
      <p:sp>
        <p:nvSpPr>
          <p:cNvPr id="292" name="Google Shape;292;p22"/>
          <p:cNvSpPr txBox="1"/>
          <p:nvPr/>
        </p:nvSpPr>
        <p:spPr>
          <a:xfrm>
            <a:off x="4632275" y="2547937"/>
            <a:ext cx="2927300"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Data is split using the Player ID number. This deals players out evenly across all servers.</a:t>
            </a:r>
            <a:endParaRPr/>
          </a:p>
        </p:txBody>
      </p:sp>
      <p:sp>
        <p:nvSpPr>
          <p:cNvPr id="293" name="Google Shape;293;p22"/>
          <p:cNvSpPr txBox="1"/>
          <p:nvPr/>
        </p:nvSpPr>
        <p:spPr>
          <a:xfrm>
            <a:off x="4632275" y="5581650"/>
            <a:ext cx="2927300" cy="4000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FFFFFF"/>
                </a:solidFill>
                <a:latin typeface="Inter SemiBold"/>
                <a:ea typeface="Inter SemiBold"/>
                <a:cs typeface="Inter SemiBold"/>
                <a:sym typeface="Inter SemiBold"/>
              </a:rPr>
              <a:t>Benefit:</a:t>
            </a:r>
            <a:r>
              <a:rPr lang="en-US" sz="1050" b="0" i="0" u="none" strike="noStrike" cap="none">
                <a:solidFill>
                  <a:srgbClr val="4ADE80"/>
                </a:solidFill>
                <a:latin typeface="Inter Light"/>
                <a:ea typeface="Inter Light"/>
                <a:cs typeface="Inter Light"/>
                <a:sym typeface="Inter Light"/>
              </a:rPr>
              <a:t> Guarantees an even distribution of data and minimizes hot spots.</a:t>
            </a:r>
            <a:endParaRPr/>
          </a:p>
        </p:txBody>
      </p:sp>
      <p:sp>
        <p:nvSpPr>
          <p:cNvPr id="294" name="Google Shape;294;p22"/>
          <p:cNvSpPr txBox="1"/>
          <p:nvPr/>
        </p:nvSpPr>
        <p:spPr>
          <a:xfrm>
            <a:off x="8340625" y="2205037"/>
            <a:ext cx="3073821"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4ADE80"/>
                </a:solidFill>
                <a:latin typeface="Inter SemiBold"/>
                <a:ea typeface="Inter SemiBold"/>
                <a:cs typeface="Inter SemiBold"/>
                <a:sym typeface="Inter SemiBold"/>
              </a:rPr>
              <a:t>The Trade-off</a:t>
            </a:r>
            <a:endParaRPr/>
          </a:p>
        </p:txBody>
      </p:sp>
      <p:sp>
        <p:nvSpPr>
          <p:cNvPr id="295" name="Google Shape;295;p22"/>
          <p:cNvSpPr txBox="1"/>
          <p:nvPr/>
        </p:nvSpPr>
        <p:spPr>
          <a:xfrm>
            <a:off x="8340625" y="2547937"/>
            <a:ext cx="2927449" cy="1357312"/>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Splitting fixes memory limits but complicates global ranking. Finding the *true* Rank #1 requires asking every single server and comparing results.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Shape 299"/>
        <p:cNvGrpSpPr/>
        <p:nvPr/>
      </p:nvGrpSpPr>
      <p:grpSpPr>
        <a:xfrm>
          <a:off x="0" y="0"/>
          <a:ext cx="0" cy="0"/>
          <a:chOff x="0" y="0"/>
          <a:chExt cx="0" cy="0"/>
        </a:xfrm>
      </p:grpSpPr>
      <p:pic>
        <p:nvPicPr>
          <p:cNvPr id="300" name="Google Shape;300;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01" name="Google Shape;301;p23" descr="image.png"/>
          <p:cNvPicPr preferRelativeResize="0"/>
          <p:nvPr/>
        </p:nvPicPr>
        <p:blipFill rotWithShape="1">
          <a:blip r:embed="rId4">
            <a:alphaModFix/>
          </a:blip>
          <a:srcRect/>
          <a:stretch/>
        </p:blipFill>
        <p:spPr>
          <a:xfrm>
            <a:off x="676275" y="2309812"/>
            <a:ext cx="5133975" cy="3071812"/>
          </a:xfrm>
          <a:prstGeom prst="rect">
            <a:avLst/>
          </a:prstGeom>
          <a:noFill/>
          <a:ln>
            <a:noFill/>
          </a:ln>
        </p:spPr>
      </p:pic>
      <p:pic>
        <p:nvPicPr>
          <p:cNvPr id="302" name="Google Shape;302;p23" descr="image.png"/>
          <p:cNvPicPr preferRelativeResize="0"/>
          <p:nvPr/>
        </p:nvPicPr>
        <p:blipFill rotWithShape="1">
          <a:blip r:embed="rId5">
            <a:alphaModFix/>
          </a:blip>
          <a:srcRect/>
          <a:stretch/>
        </p:blipFill>
        <p:spPr>
          <a:xfrm>
            <a:off x="6381750" y="1352550"/>
            <a:ext cx="5133975" cy="3390900"/>
          </a:xfrm>
          <a:prstGeom prst="rect">
            <a:avLst/>
          </a:prstGeom>
          <a:noFill/>
          <a:ln>
            <a:noFill/>
          </a:ln>
        </p:spPr>
      </p:pic>
      <p:pic>
        <p:nvPicPr>
          <p:cNvPr id="303" name="Google Shape;303;p23" descr="image.png"/>
          <p:cNvPicPr preferRelativeResize="0"/>
          <p:nvPr/>
        </p:nvPicPr>
        <p:blipFill rotWithShape="1">
          <a:blip r:embed="rId6">
            <a:alphaModFix/>
          </a:blip>
          <a:srcRect/>
          <a:stretch/>
        </p:blipFill>
        <p:spPr>
          <a:xfrm>
            <a:off x="6677025" y="1981200"/>
            <a:ext cx="4543425" cy="476250"/>
          </a:xfrm>
          <a:prstGeom prst="rect">
            <a:avLst/>
          </a:prstGeom>
          <a:noFill/>
          <a:ln>
            <a:noFill/>
          </a:ln>
        </p:spPr>
      </p:pic>
      <p:pic>
        <p:nvPicPr>
          <p:cNvPr id="304" name="Google Shape;304;p23" descr="image.png"/>
          <p:cNvPicPr preferRelativeResize="0"/>
          <p:nvPr/>
        </p:nvPicPr>
        <p:blipFill rotWithShape="1">
          <a:blip r:embed="rId7">
            <a:alphaModFix/>
          </a:blip>
          <a:srcRect/>
          <a:stretch/>
        </p:blipFill>
        <p:spPr>
          <a:xfrm>
            <a:off x="6677025" y="2790825"/>
            <a:ext cx="4543425" cy="514350"/>
          </a:xfrm>
          <a:prstGeom prst="rect">
            <a:avLst/>
          </a:prstGeom>
          <a:noFill/>
          <a:ln>
            <a:noFill/>
          </a:ln>
        </p:spPr>
      </p:pic>
      <p:pic>
        <p:nvPicPr>
          <p:cNvPr id="305" name="Google Shape;305;p23" descr="image.png"/>
          <p:cNvPicPr preferRelativeResize="0"/>
          <p:nvPr/>
        </p:nvPicPr>
        <p:blipFill rotWithShape="1">
          <a:blip r:embed="rId8">
            <a:alphaModFix/>
          </a:blip>
          <a:srcRect/>
          <a:stretch/>
        </p:blipFill>
        <p:spPr>
          <a:xfrm>
            <a:off x="6677025" y="3638550"/>
            <a:ext cx="4543425" cy="476250"/>
          </a:xfrm>
          <a:prstGeom prst="rect">
            <a:avLst/>
          </a:prstGeom>
          <a:noFill/>
          <a:ln>
            <a:noFill/>
          </a:ln>
        </p:spPr>
      </p:pic>
      <p:sp>
        <p:nvSpPr>
          <p:cNvPr id="306" name="Google Shape;306;p23"/>
          <p:cNvSpPr txBox="1"/>
          <p:nvPr/>
        </p:nvSpPr>
        <p:spPr>
          <a:xfrm>
            <a:off x="676275" y="485775"/>
            <a:ext cx="11381422"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FFFFF"/>
                </a:solidFill>
                <a:latin typeface="Inter"/>
                <a:ea typeface="Inter"/>
                <a:cs typeface="Inter"/>
                <a:sym typeface="Inter"/>
              </a:rPr>
              <a:t>Retrieving Ranks: Finding Neighbors</a:t>
            </a:r>
            <a:endParaRPr/>
          </a:p>
        </p:txBody>
      </p:sp>
      <p:sp>
        <p:nvSpPr>
          <p:cNvPr id="307" name="Google Shape;307;p23"/>
          <p:cNvSpPr/>
          <p:nvPr/>
        </p:nvSpPr>
        <p:spPr>
          <a:xfrm>
            <a:off x="676275" y="1095375"/>
            <a:ext cx="1083945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8" name="Google Shape;308;p23"/>
          <p:cNvSpPr txBox="1"/>
          <p:nvPr/>
        </p:nvSpPr>
        <p:spPr>
          <a:xfrm>
            <a:off x="676275" y="1352550"/>
            <a:ext cx="5133975" cy="814387"/>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 common requirement is the "Window Query": displaying a player's rank, plus the few players ranked directly above and below them.</a:t>
            </a:r>
            <a:endParaRPr/>
          </a:p>
        </p:txBody>
      </p:sp>
      <p:sp>
        <p:nvSpPr>
          <p:cNvPr id="309" name="Google Shape;309;p23"/>
          <p:cNvSpPr txBox="1"/>
          <p:nvPr/>
        </p:nvSpPr>
        <p:spPr>
          <a:xfrm>
            <a:off x="6381750" y="4886325"/>
            <a:ext cx="5133975" cy="4572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AAAAAA"/>
                </a:solidFill>
                <a:latin typeface="Inter Light"/>
                <a:ea typeface="Inter Light"/>
                <a:cs typeface="Inter Light"/>
                <a:sym typeface="Inter Light"/>
              </a:rPr>
              <a:t>Once the player's node is located, jumping to "Next" and "Previous" is instant.</a:t>
            </a:r>
            <a:endParaRPr/>
          </a:p>
        </p:txBody>
      </p:sp>
      <p:sp>
        <p:nvSpPr>
          <p:cNvPr id="310" name="Google Shape;310;p23"/>
          <p:cNvSpPr txBox="1"/>
          <p:nvPr/>
        </p:nvSpPr>
        <p:spPr>
          <a:xfrm>
            <a:off x="876300" y="2509837"/>
            <a:ext cx="4970621"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4ADE80"/>
                </a:solidFill>
                <a:latin typeface="Inter SemiBold"/>
                <a:ea typeface="Inter SemiBold"/>
                <a:cs typeface="Inter SemiBold"/>
                <a:sym typeface="Inter SemiBold"/>
              </a:rPr>
              <a:t>The Role of the Sorted Structure</a:t>
            </a:r>
            <a:endParaRPr/>
          </a:p>
        </p:txBody>
      </p:sp>
      <p:sp>
        <p:nvSpPr>
          <p:cNvPr id="311" name="Google Shape;311;p23"/>
          <p:cNvSpPr txBox="1"/>
          <p:nvPr/>
        </p:nvSpPr>
        <p:spPr>
          <a:xfrm>
            <a:off x="876300" y="2852737"/>
            <a:ext cx="4733925"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 Hash Map can only answer: "What is Player X's score?"</a:t>
            </a:r>
            <a:endParaRPr/>
          </a:p>
        </p:txBody>
      </p:sp>
      <p:sp>
        <p:nvSpPr>
          <p:cNvPr id="312" name="Google Shape;312;p23"/>
          <p:cNvSpPr txBox="1"/>
          <p:nvPr/>
        </p:nvSpPr>
        <p:spPr>
          <a:xfrm>
            <a:off x="876300" y="3538537"/>
            <a:ext cx="4733925"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It cannot answer: "Who is ranked immediately below Player X?" because it has no concept of order.</a:t>
            </a:r>
            <a:endParaRPr/>
          </a:p>
        </p:txBody>
      </p:sp>
      <p:sp>
        <p:nvSpPr>
          <p:cNvPr id="313" name="Google Shape;313;p23"/>
          <p:cNvSpPr txBox="1"/>
          <p:nvPr/>
        </p:nvSpPr>
        <p:spPr>
          <a:xfrm>
            <a:off x="876300" y="4224337"/>
            <a:ext cx="4734000" cy="8772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This is why the Skip List is </a:t>
            </a:r>
            <a:r>
              <a:rPr lang="en-US" sz="1425">
                <a:solidFill>
                  <a:srgbClr val="D4D4D4"/>
                </a:solidFill>
                <a:latin typeface="Inter Light"/>
                <a:ea typeface="Inter Light"/>
                <a:cs typeface="Inter Light"/>
                <a:sym typeface="Inter Light"/>
              </a:rPr>
              <a:t>important</a:t>
            </a:r>
            <a:r>
              <a:rPr lang="en-US" sz="1425" b="0" i="0" u="none" strike="noStrike" cap="none">
                <a:solidFill>
                  <a:srgbClr val="D4D4D4"/>
                </a:solidFill>
                <a:latin typeface="Inter Light"/>
                <a:ea typeface="Inter Light"/>
                <a:cs typeface="Inter Light"/>
                <a:sym typeface="Inter Light"/>
              </a:rPr>
              <a:t>. The structure provides ordering, connecting every player node to their neighbors.</a:t>
            </a:r>
            <a:endParaRPr/>
          </a:p>
        </p:txBody>
      </p:sp>
      <p:sp>
        <p:nvSpPr>
          <p:cNvPr id="314" name="Google Shape;314;p23"/>
          <p:cNvSpPr txBox="1"/>
          <p:nvPr/>
        </p:nvSpPr>
        <p:spPr>
          <a:xfrm>
            <a:off x="6677025" y="1647825"/>
            <a:ext cx="4543425"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666666"/>
                </a:solidFill>
                <a:latin typeface="Inter"/>
                <a:ea typeface="Inter"/>
                <a:cs typeface="Inter"/>
                <a:sym typeface="Inter"/>
              </a:rPr>
              <a:t>Rank 99</a:t>
            </a:r>
            <a:endParaRPr/>
          </a:p>
        </p:txBody>
      </p:sp>
      <p:sp>
        <p:nvSpPr>
          <p:cNvPr id="315" name="Google Shape;315;p23"/>
          <p:cNvSpPr txBox="1"/>
          <p:nvPr/>
        </p:nvSpPr>
        <p:spPr>
          <a:xfrm>
            <a:off x="6677025" y="4257675"/>
            <a:ext cx="4543425"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666666"/>
                </a:solidFill>
                <a:latin typeface="Inter"/>
                <a:ea typeface="Inter"/>
                <a:cs typeface="Inter"/>
                <a:sym typeface="Inter"/>
              </a:rPr>
              <a:t>Rank 101</a:t>
            </a:r>
            <a:endParaRPr/>
          </a:p>
        </p:txBody>
      </p:sp>
      <p:pic>
        <p:nvPicPr>
          <p:cNvPr id="316" name="Google Shape;316;p23" descr="image.png"/>
          <p:cNvPicPr preferRelativeResize="0"/>
          <p:nvPr/>
        </p:nvPicPr>
        <p:blipFill rotWithShape="1">
          <a:blip r:embed="rId9">
            <a:alphaModFix/>
          </a:blip>
          <a:srcRect/>
          <a:stretch/>
        </p:blipFill>
        <p:spPr>
          <a:xfrm>
            <a:off x="8891587" y="2571750"/>
            <a:ext cx="114300" cy="152400"/>
          </a:xfrm>
          <a:prstGeom prst="rect">
            <a:avLst/>
          </a:prstGeom>
          <a:noFill/>
          <a:ln>
            <a:noFill/>
          </a:ln>
        </p:spPr>
      </p:pic>
      <p:pic>
        <p:nvPicPr>
          <p:cNvPr id="317" name="Google Shape;317;p23" descr="image.png"/>
          <p:cNvPicPr preferRelativeResize="0"/>
          <p:nvPr/>
        </p:nvPicPr>
        <p:blipFill rotWithShape="1">
          <a:blip r:embed="rId9">
            <a:alphaModFix/>
          </a:blip>
          <a:srcRect/>
          <a:stretch/>
        </p:blipFill>
        <p:spPr>
          <a:xfrm>
            <a:off x="8891587" y="3419475"/>
            <a:ext cx="114300" cy="152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Shape 321"/>
        <p:cNvGrpSpPr/>
        <p:nvPr/>
      </p:nvGrpSpPr>
      <p:grpSpPr>
        <a:xfrm>
          <a:off x="0" y="0"/>
          <a:ext cx="0" cy="0"/>
          <a:chOff x="0" y="0"/>
          <a:chExt cx="0" cy="0"/>
        </a:xfrm>
      </p:grpSpPr>
      <p:pic>
        <p:nvPicPr>
          <p:cNvPr id="322" name="Google Shape;322;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23" name="Google Shape;323;p24"/>
          <p:cNvSpPr txBox="1"/>
          <p:nvPr/>
        </p:nvSpPr>
        <p:spPr>
          <a:xfrm>
            <a:off x="676275" y="485775"/>
            <a:ext cx="11381422"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FFFFF"/>
                </a:solidFill>
                <a:latin typeface="Inter"/>
                <a:ea typeface="Inter"/>
                <a:cs typeface="Inter"/>
                <a:sym typeface="Inter"/>
              </a:rPr>
              <a:t>Real-World Architecture</a:t>
            </a:r>
            <a:endParaRPr/>
          </a:p>
        </p:txBody>
      </p:sp>
      <p:sp>
        <p:nvSpPr>
          <p:cNvPr id="324" name="Google Shape;324;p24"/>
          <p:cNvSpPr/>
          <p:nvPr/>
        </p:nvSpPr>
        <p:spPr>
          <a:xfrm>
            <a:off x="676275" y="1095375"/>
            <a:ext cx="1083945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25" name="Google Shape;325;p24" descr="image.png"/>
          <p:cNvPicPr preferRelativeResize="0"/>
          <p:nvPr/>
        </p:nvPicPr>
        <p:blipFill rotWithShape="1">
          <a:blip r:embed="rId4">
            <a:alphaModFix/>
          </a:blip>
          <a:srcRect/>
          <a:stretch/>
        </p:blipFill>
        <p:spPr>
          <a:xfrm>
            <a:off x="3171825" y="2495550"/>
            <a:ext cx="142875" cy="190500"/>
          </a:xfrm>
          <a:prstGeom prst="rect">
            <a:avLst/>
          </a:prstGeom>
          <a:noFill/>
          <a:ln>
            <a:noFill/>
          </a:ln>
        </p:spPr>
      </p:pic>
      <p:sp>
        <p:nvSpPr>
          <p:cNvPr id="326" name="Google Shape;326;p24"/>
          <p:cNvSpPr txBox="1"/>
          <p:nvPr/>
        </p:nvSpPr>
        <p:spPr>
          <a:xfrm>
            <a:off x="6381750" y="1352550"/>
            <a:ext cx="5390673"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4ADE80"/>
                </a:solidFill>
                <a:latin typeface="Inter SemiBold"/>
                <a:ea typeface="Inter SemiBold"/>
                <a:cs typeface="Inter SemiBold"/>
                <a:sym typeface="Inter SemiBold"/>
              </a:rPr>
              <a:t>The Independent Program Pattern</a:t>
            </a:r>
            <a:endParaRPr/>
          </a:p>
        </p:txBody>
      </p:sp>
      <p:sp>
        <p:nvSpPr>
          <p:cNvPr id="327" name="Google Shape;327;p24"/>
          <p:cNvSpPr txBox="1"/>
          <p:nvPr/>
        </p:nvSpPr>
        <p:spPr>
          <a:xfrm>
            <a:off x="6381750" y="1695450"/>
            <a:ext cx="5133975" cy="542925"/>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4D4D4"/>
                </a:solidFill>
                <a:latin typeface="Inter Light"/>
                <a:ea typeface="Inter Light"/>
                <a:cs typeface="Inter Light"/>
                <a:sym typeface="Inter Light"/>
              </a:rPr>
              <a:t>In production, the Leaderboard functions as an isolated </a:t>
            </a:r>
            <a:r>
              <a:rPr lang="en-US" sz="1425" b="0" i="0" u="none" strike="noStrike" cap="none">
                <a:solidFill>
                  <a:srgbClr val="FFFFFF"/>
                </a:solidFill>
                <a:latin typeface="Inter SemiBold"/>
                <a:ea typeface="Inter SemiBold"/>
                <a:cs typeface="Inter SemiBold"/>
                <a:sym typeface="Inter SemiBold"/>
              </a:rPr>
              <a:t>Independent Program</a:t>
            </a:r>
            <a:r>
              <a:rPr lang="en-US" sz="1425" b="0" i="0" u="none" strike="noStrike" cap="none">
                <a:solidFill>
                  <a:srgbClr val="D4D4D4"/>
                </a:solidFill>
                <a:latin typeface="Inter Light"/>
                <a:ea typeface="Inter Light"/>
                <a:cs typeface="Inter Light"/>
                <a:sym typeface="Inter Light"/>
              </a:rPr>
              <a:t>, separate from the main game server.</a:t>
            </a:r>
            <a:endParaRPr/>
          </a:p>
        </p:txBody>
      </p:sp>
      <p:pic>
        <p:nvPicPr>
          <p:cNvPr id="328" name="Google Shape;328;p24" descr="image.png"/>
          <p:cNvPicPr preferRelativeResize="0"/>
          <p:nvPr/>
        </p:nvPicPr>
        <p:blipFill rotWithShape="1">
          <a:blip r:embed="rId5">
            <a:alphaModFix/>
          </a:blip>
          <a:srcRect/>
          <a:stretch/>
        </p:blipFill>
        <p:spPr>
          <a:xfrm>
            <a:off x="2509837" y="1857375"/>
            <a:ext cx="285750" cy="228600"/>
          </a:xfrm>
          <a:prstGeom prst="rect">
            <a:avLst/>
          </a:prstGeom>
          <a:noFill/>
          <a:ln>
            <a:noFill/>
          </a:ln>
        </p:spPr>
      </p:pic>
      <p:sp>
        <p:nvSpPr>
          <p:cNvPr id="329" name="Google Shape;329;p24"/>
          <p:cNvSpPr txBox="1"/>
          <p:nvPr/>
        </p:nvSpPr>
        <p:spPr>
          <a:xfrm>
            <a:off x="2938462" y="1790700"/>
            <a:ext cx="1038225" cy="3619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FFFFFF"/>
                </a:solidFill>
                <a:latin typeface="Inter"/>
                <a:ea typeface="Inter"/>
                <a:cs typeface="Inter"/>
                <a:sym typeface="Inter"/>
              </a:rPr>
              <a:t>Game Client</a:t>
            </a:r>
            <a:r>
              <a:rPr lang="en-US" sz="1200" b="0" i="0" u="none" strike="noStrike" cap="none">
                <a:solidFill>
                  <a:srgbClr val="FFFFFF"/>
                </a:solidFill>
                <a:latin typeface="Inter"/>
                <a:ea typeface="Inter"/>
                <a:cs typeface="Inter"/>
                <a:sym typeface="Inter"/>
              </a:rPr>
              <a:t> </a:t>
            </a:r>
            <a:r>
              <a:rPr lang="en-US" sz="1200" b="0" i="0" u="none" strike="noStrike" cap="none">
                <a:solidFill>
                  <a:srgbClr val="AAAAAA"/>
                </a:solidFill>
                <a:latin typeface="Inter"/>
                <a:ea typeface="Inter"/>
                <a:cs typeface="Inter"/>
                <a:sym typeface="Inter"/>
              </a:rPr>
              <a:t>User interface</a:t>
            </a:r>
            <a:endParaRPr/>
          </a:p>
        </p:txBody>
      </p:sp>
      <p:pic>
        <p:nvPicPr>
          <p:cNvPr id="330" name="Google Shape;330;p24" descr="image.png"/>
          <p:cNvPicPr preferRelativeResize="0"/>
          <p:nvPr/>
        </p:nvPicPr>
        <p:blipFill rotWithShape="1">
          <a:blip r:embed="rId6">
            <a:alphaModFix/>
          </a:blip>
          <a:srcRect/>
          <a:stretch/>
        </p:blipFill>
        <p:spPr>
          <a:xfrm>
            <a:off x="2128837" y="2927850"/>
            <a:ext cx="228600" cy="228600"/>
          </a:xfrm>
          <a:prstGeom prst="rect">
            <a:avLst/>
          </a:prstGeom>
          <a:noFill/>
          <a:ln>
            <a:noFill/>
          </a:ln>
        </p:spPr>
      </p:pic>
      <p:sp>
        <p:nvSpPr>
          <p:cNvPr id="331" name="Google Shape;331;p24"/>
          <p:cNvSpPr txBox="1"/>
          <p:nvPr/>
        </p:nvSpPr>
        <p:spPr>
          <a:xfrm>
            <a:off x="2509837" y="2857500"/>
            <a:ext cx="1857300" cy="369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FFFFFF"/>
                </a:solidFill>
                <a:latin typeface="Inter"/>
                <a:ea typeface="Inter"/>
                <a:cs typeface="Inter"/>
                <a:sym typeface="Inter"/>
              </a:rPr>
              <a:t>Leaderboard Program</a:t>
            </a:r>
            <a:r>
              <a:rPr lang="en-US" sz="1200" b="0" i="0" u="none" strike="noStrike" cap="none">
                <a:solidFill>
                  <a:srgbClr val="FFFFFF"/>
                </a:solidFill>
                <a:latin typeface="Inter"/>
                <a:ea typeface="Inter"/>
                <a:cs typeface="Inter"/>
                <a:sym typeface="Inter"/>
              </a:rPr>
              <a:t> </a:t>
            </a:r>
            <a:r>
              <a:rPr lang="en-US" sz="1200" b="0" i="0" u="none" strike="noStrike" cap="none">
                <a:solidFill>
                  <a:srgbClr val="AAAAAA"/>
                </a:solidFill>
                <a:latin typeface="Inter"/>
                <a:ea typeface="Inter"/>
                <a:cs typeface="Inter"/>
                <a:sym typeface="Inter"/>
              </a:rPr>
              <a:t>Microservice logic</a:t>
            </a:r>
            <a:endParaRPr/>
          </a:p>
        </p:txBody>
      </p:sp>
      <p:sp>
        <p:nvSpPr>
          <p:cNvPr id="332" name="Google Shape;332;p24"/>
          <p:cNvSpPr txBox="1"/>
          <p:nvPr/>
        </p:nvSpPr>
        <p:spPr>
          <a:xfrm>
            <a:off x="6657975" y="2531268"/>
            <a:ext cx="1047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t>
            </a:r>
            <a:endParaRPr/>
          </a:p>
        </p:txBody>
      </p:sp>
      <p:sp>
        <p:nvSpPr>
          <p:cNvPr id="333" name="Google Shape;333;p24"/>
          <p:cNvSpPr txBox="1"/>
          <p:nvPr/>
        </p:nvSpPr>
        <p:spPr>
          <a:xfrm>
            <a:off x="6762750" y="2533650"/>
            <a:ext cx="4752975" cy="542925"/>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0" i="0" u="none" strike="noStrike" cap="none" dirty="0">
                <a:solidFill>
                  <a:srgbClr val="FFFFFF"/>
                </a:solidFill>
                <a:latin typeface="Inter SemiBold"/>
                <a:ea typeface="Inter SemiBold"/>
                <a:cs typeface="Inter SemiBold"/>
                <a:sym typeface="Inter SemiBold"/>
              </a:rPr>
              <a:t>Safety Separation:</a:t>
            </a:r>
            <a:r>
              <a:rPr lang="en-US" sz="1425" b="0" i="0" u="none" strike="noStrike" cap="none" dirty="0">
                <a:solidFill>
                  <a:srgbClr val="D4D4D4"/>
                </a:solidFill>
                <a:latin typeface="Inter Light"/>
                <a:ea typeface="Inter Light"/>
                <a:cs typeface="Inter Light"/>
                <a:sym typeface="Inter Light"/>
              </a:rPr>
              <a:t> If the leaderboard crashes, the core game operation is unaffected.</a:t>
            </a:r>
            <a:endParaRPr dirty="0"/>
          </a:p>
        </p:txBody>
      </p:sp>
      <p:sp>
        <p:nvSpPr>
          <p:cNvPr id="334" name="Google Shape;334;p24"/>
          <p:cNvSpPr txBox="1"/>
          <p:nvPr/>
        </p:nvSpPr>
        <p:spPr>
          <a:xfrm>
            <a:off x="6657975" y="3217068"/>
            <a:ext cx="1047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t>
            </a:r>
            <a:endParaRPr/>
          </a:p>
        </p:txBody>
      </p:sp>
      <p:sp>
        <p:nvSpPr>
          <p:cNvPr id="335" name="Google Shape;335;p24"/>
          <p:cNvSpPr txBox="1"/>
          <p:nvPr/>
        </p:nvSpPr>
        <p:spPr>
          <a:xfrm>
            <a:off x="6762750" y="3219450"/>
            <a:ext cx="4752975" cy="542925"/>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FFFFFF"/>
                </a:solidFill>
                <a:latin typeface="Inter SemiBold"/>
                <a:ea typeface="Inter SemiBold"/>
                <a:cs typeface="Inter SemiBold"/>
                <a:sym typeface="Inter SemiBold"/>
              </a:rPr>
              <a:t>Growth:</a:t>
            </a:r>
            <a:r>
              <a:rPr lang="en-US" sz="1425" b="0" i="0" u="none" strike="noStrike" cap="none">
                <a:solidFill>
                  <a:srgbClr val="D4D4D4"/>
                </a:solidFill>
                <a:latin typeface="Inter Light"/>
                <a:ea typeface="Inter Light"/>
                <a:cs typeface="Inter Light"/>
                <a:sym typeface="Inter Light"/>
              </a:rPr>
              <a:t> New leaderboard servers can be added without restarting the main game processes.</a:t>
            </a:r>
            <a:endParaRPr/>
          </a:p>
        </p:txBody>
      </p:sp>
      <p:sp>
        <p:nvSpPr>
          <p:cNvPr id="336" name="Google Shape;336;p24"/>
          <p:cNvSpPr txBox="1"/>
          <p:nvPr/>
        </p:nvSpPr>
        <p:spPr>
          <a:xfrm>
            <a:off x="6657975" y="3902868"/>
            <a:ext cx="1047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t>
            </a:r>
            <a:endParaRPr/>
          </a:p>
        </p:txBody>
      </p:sp>
      <p:sp>
        <p:nvSpPr>
          <p:cNvPr id="337" name="Google Shape;337;p24"/>
          <p:cNvSpPr txBox="1"/>
          <p:nvPr/>
        </p:nvSpPr>
        <p:spPr>
          <a:xfrm>
            <a:off x="6762750" y="3905250"/>
            <a:ext cx="4752900" cy="1206000"/>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FFFFFF"/>
                </a:solidFill>
                <a:latin typeface="Inter SemiBold"/>
                <a:ea typeface="Inter SemiBold"/>
                <a:cs typeface="Inter SemiBold"/>
                <a:sym typeface="Inter SemiBold"/>
              </a:rPr>
              <a:t>Data Flow:</a:t>
            </a:r>
            <a:r>
              <a:rPr lang="en-US" sz="1425" b="0" i="0" u="none" strike="noStrike" cap="none">
                <a:solidFill>
                  <a:srgbClr val="D4D4D4"/>
                </a:solidFill>
                <a:latin typeface="Inter Light"/>
                <a:ea typeface="Inter Light"/>
                <a:cs typeface="Inter Light"/>
                <a:sym typeface="Inter Light"/>
              </a:rPr>
              <a:t> Score updates </a:t>
            </a:r>
            <a:r>
              <a:rPr lang="en-US" sz="1425">
                <a:solidFill>
                  <a:srgbClr val="D4D4D4"/>
                </a:solidFill>
                <a:latin typeface="Inter Light"/>
                <a:ea typeface="Inter Light"/>
                <a:cs typeface="Inter Light"/>
                <a:sym typeface="Inter Light"/>
              </a:rPr>
              <a:t>enter into </a:t>
            </a:r>
            <a:r>
              <a:rPr lang="en-US" sz="1425" b="0" i="0" u="none" strike="noStrike" cap="none">
                <a:solidFill>
                  <a:srgbClr val="D4D4D4"/>
                </a:solidFill>
                <a:latin typeface="Inter Light"/>
                <a:ea typeface="Inter Light"/>
                <a:cs typeface="Inter Light"/>
                <a:sym typeface="Inter Light"/>
              </a:rPr>
              <a:t>the Program. Data is instantly written to RAM (Green Arrow) for speed and periodically copied to Disk (</a:t>
            </a:r>
            <a:r>
              <a:rPr lang="en-US" sz="1425">
                <a:solidFill>
                  <a:srgbClr val="D4D4D4"/>
                </a:solidFill>
                <a:latin typeface="Inter Light"/>
                <a:ea typeface="Inter Light"/>
                <a:cs typeface="Inter Light"/>
                <a:sym typeface="Inter Light"/>
              </a:rPr>
              <a:t>White</a:t>
            </a:r>
            <a:r>
              <a:rPr lang="en-US" sz="1425" b="0" i="0" u="none" strike="noStrike" cap="none">
                <a:solidFill>
                  <a:srgbClr val="D4D4D4"/>
                </a:solidFill>
                <a:latin typeface="Inter Light"/>
                <a:ea typeface="Inter Light"/>
                <a:cs typeface="Inter Light"/>
                <a:sym typeface="Inter Light"/>
              </a:rPr>
              <a:t> Arrow) for permanent storage.</a:t>
            </a:r>
            <a:endParaRPr/>
          </a:p>
        </p:txBody>
      </p:sp>
      <p:pic>
        <p:nvPicPr>
          <p:cNvPr id="338" name="Google Shape;338;p24" descr="image.png"/>
          <p:cNvPicPr preferRelativeResize="0"/>
          <p:nvPr/>
        </p:nvPicPr>
        <p:blipFill rotWithShape="1">
          <a:blip r:embed="rId7">
            <a:alphaModFix/>
          </a:blip>
          <a:srcRect/>
          <a:stretch/>
        </p:blipFill>
        <p:spPr>
          <a:xfrm>
            <a:off x="2040284" y="4086225"/>
            <a:ext cx="257175" cy="228600"/>
          </a:xfrm>
          <a:prstGeom prst="rect">
            <a:avLst/>
          </a:prstGeom>
          <a:noFill/>
          <a:ln>
            <a:noFill/>
          </a:ln>
        </p:spPr>
      </p:pic>
      <p:sp>
        <p:nvSpPr>
          <p:cNvPr id="339" name="Google Shape;339;p24"/>
          <p:cNvSpPr txBox="1"/>
          <p:nvPr/>
        </p:nvSpPr>
        <p:spPr>
          <a:xfrm>
            <a:off x="1524022" y="4314825"/>
            <a:ext cx="1438200" cy="3693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200" b="1" i="0" u="none" strike="noStrike" cap="none">
                <a:solidFill>
                  <a:srgbClr val="FFFFFF"/>
                </a:solidFill>
                <a:latin typeface="Inter"/>
                <a:ea typeface="Inter"/>
                <a:cs typeface="Inter"/>
                <a:sym typeface="Inter"/>
              </a:rPr>
              <a:t>In-Memory Store</a:t>
            </a:r>
            <a:r>
              <a:rPr lang="en-US" sz="1200" b="0" i="0" u="none" strike="noStrike" cap="none">
                <a:solidFill>
                  <a:srgbClr val="FFFFFF"/>
                </a:solidFill>
                <a:latin typeface="Inter"/>
                <a:ea typeface="Inter"/>
                <a:cs typeface="Inter"/>
                <a:sym typeface="Inter"/>
              </a:rPr>
              <a:t> </a:t>
            </a:r>
            <a:r>
              <a:rPr lang="en-US" sz="1200" b="0" i="0" u="none" strike="noStrike" cap="none">
                <a:solidFill>
                  <a:srgbClr val="AAAAAA"/>
                </a:solidFill>
                <a:latin typeface="Inter"/>
                <a:ea typeface="Inter"/>
                <a:cs typeface="Inter"/>
                <a:sym typeface="Inter"/>
              </a:rPr>
              <a:t>RAM (Fast Access)</a:t>
            </a:r>
            <a:endParaRPr/>
          </a:p>
        </p:txBody>
      </p:sp>
      <p:pic>
        <p:nvPicPr>
          <p:cNvPr id="340" name="Google Shape;340;p24" descr="image.png"/>
          <p:cNvPicPr preferRelativeResize="0"/>
          <p:nvPr/>
        </p:nvPicPr>
        <p:blipFill rotWithShape="1">
          <a:blip r:embed="rId8">
            <a:alphaModFix/>
          </a:blip>
          <a:srcRect/>
          <a:stretch/>
        </p:blipFill>
        <p:spPr>
          <a:xfrm>
            <a:off x="4217640" y="4086225"/>
            <a:ext cx="200025" cy="228600"/>
          </a:xfrm>
          <a:prstGeom prst="rect">
            <a:avLst/>
          </a:prstGeom>
          <a:noFill/>
          <a:ln>
            <a:noFill/>
          </a:ln>
        </p:spPr>
      </p:pic>
      <p:sp>
        <p:nvSpPr>
          <p:cNvPr id="341" name="Google Shape;341;p24"/>
          <p:cNvSpPr txBox="1"/>
          <p:nvPr/>
        </p:nvSpPr>
        <p:spPr>
          <a:xfrm>
            <a:off x="3722340" y="4318500"/>
            <a:ext cx="1190700" cy="3693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200" b="1" i="0" u="none" strike="noStrike" cap="none">
                <a:solidFill>
                  <a:srgbClr val="FFFFFF"/>
                </a:solidFill>
                <a:latin typeface="Inter"/>
                <a:ea typeface="Inter"/>
                <a:cs typeface="Inter"/>
                <a:sym typeface="Inter"/>
              </a:rPr>
              <a:t>SQL Database</a:t>
            </a:r>
            <a:r>
              <a:rPr lang="en-US" sz="1200" b="0" i="0" u="none" strike="noStrike" cap="none">
                <a:solidFill>
                  <a:srgbClr val="FFFFFF"/>
                </a:solidFill>
                <a:latin typeface="Inter"/>
                <a:ea typeface="Inter"/>
                <a:cs typeface="Inter"/>
                <a:sym typeface="Inter"/>
              </a:rPr>
              <a:t> </a:t>
            </a:r>
            <a:r>
              <a:rPr lang="en-US" sz="1200" b="0" i="0" u="none" strike="noStrike" cap="none">
                <a:solidFill>
                  <a:srgbClr val="AAAAAA"/>
                </a:solidFill>
                <a:latin typeface="Inter"/>
                <a:ea typeface="Inter"/>
                <a:cs typeface="Inter"/>
                <a:sym typeface="Inter"/>
              </a:rPr>
              <a:t>Disk (Backup)</a:t>
            </a:r>
            <a:endParaRPr/>
          </a:p>
        </p:txBody>
      </p:sp>
      <p:pic>
        <p:nvPicPr>
          <p:cNvPr id="342" name="Google Shape;342;p24" descr="image.png"/>
          <p:cNvPicPr preferRelativeResize="0"/>
          <p:nvPr/>
        </p:nvPicPr>
        <p:blipFill rotWithShape="1">
          <a:blip r:embed="rId9">
            <a:alphaModFix/>
          </a:blip>
          <a:srcRect/>
          <a:stretch/>
        </p:blipFill>
        <p:spPr>
          <a:xfrm>
            <a:off x="2171688" y="3571875"/>
            <a:ext cx="142875" cy="190500"/>
          </a:xfrm>
          <a:prstGeom prst="rect">
            <a:avLst/>
          </a:prstGeom>
          <a:noFill/>
          <a:ln>
            <a:noFill/>
          </a:ln>
        </p:spPr>
      </p:pic>
      <p:pic>
        <p:nvPicPr>
          <p:cNvPr id="343" name="Google Shape;343;p24" descr="image.png"/>
          <p:cNvPicPr preferRelativeResize="0"/>
          <p:nvPr/>
        </p:nvPicPr>
        <p:blipFill rotWithShape="1">
          <a:blip r:embed="rId10">
            <a:alphaModFix/>
          </a:blip>
          <a:srcRect/>
          <a:stretch/>
        </p:blipFill>
        <p:spPr>
          <a:xfrm>
            <a:off x="4246225" y="3571875"/>
            <a:ext cx="142875" cy="190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Shape 347"/>
        <p:cNvGrpSpPr/>
        <p:nvPr/>
      </p:nvGrpSpPr>
      <p:grpSpPr>
        <a:xfrm>
          <a:off x="0" y="0"/>
          <a:ext cx="0" cy="0"/>
          <a:chOff x="0" y="0"/>
          <a:chExt cx="0" cy="0"/>
        </a:xfrm>
      </p:grpSpPr>
      <p:pic>
        <p:nvPicPr>
          <p:cNvPr id="348" name="Google Shape;348;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49" name="Google Shape;349;p25"/>
          <p:cNvSpPr txBox="1"/>
          <p:nvPr/>
        </p:nvSpPr>
        <p:spPr>
          <a:xfrm>
            <a:off x="676275" y="485775"/>
            <a:ext cx="11381422"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FFFFF"/>
                </a:solidFill>
                <a:latin typeface="Inter"/>
                <a:ea typeface="Inter"/>
                <a:cs typeface="Inter"/>
                <a:sym typeface="Inter"/>
              </a:rPr>
              <a:t>References &amp; Methodology</a:t>
            </a:r>
            <a:endParaRPr/>
          </a:p>
        </p:txBody>
      </p:sp>
      <p:sp>
        <p:nvSpPr>
          <p:cNvPr id="350" name="Google Shape;350;p25"/>
          <p:cNvSpPr/>
          <p:nvPr/>
        </p:nvSpPr>
        <p:spPr>
          <a:xfrm>
            <a:off x="676275" y="1095375"/>
            <a:ext cx="1083945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1" name="Google Shape;351;p25"/>
          <p:cNvSpPr txBox="1"/>
          <p:nvPr/>
        </p:nvSpPr>
        <p:spPr>
          <a:xfrm>
            <a:off x="676275" y="1352550"/>
            <a:ext cx="7700962"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4ADE80"/>
                </a:solidFill>
                <a:latin typeface="Inter SemiBold"/>
                <a:ea typeface="Inter SemiBold"/>
                <a:cs typeface="Inter SemiBold"/>
                <a:sym typeface="Inter SemiBold"/>
              </a:rPr>
              <a:t>Academic Sources</a:t>
            </a:r>
            <a:endParaRPr/>
          </a:p>
        </p:txBody>
      </p:sp>
      <p:sp>
        <p:nvSpPr>
          <p:cNvPr id="352" name="Google Shape;352;p25"/>
          <p:cNvSpPr txBox="1"/>
          <p:nvPr/>
        </p:nvSpPr>
        <p:spPr>
          <a:xfrm>
            <a:off x="8582025" y="1352550"/>
            <a:ext cx="30804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4ADE80"/>
                </a:solidFill>
                <a:latin typeface="Inter SemiBold"/>
                <a:ea typeface="Inter SemiBold"/>
                <a:cs typeface="Inter SemiBold"/>
                <a:sym typeface="Inter SemiBold"/>
              </a:rPr>
              <a:t>AI Prompts Used</a:t>
            </a:r>
            <a:endParaRPr/>
          </a:p>
        </p:txBody>
      </p:sp>
      <p:sp>
        <p:nvSpPr>
          <p:cNvPr id="353" name="Google Shape;353;p25"/>
          <p:cNvSpPr/>
          <p:nvPr/>
        </p:nvSpPr>
        <p:spPr>
          <a:xfrm>
            <a:off x="8582025" y="1695450"/>
            <a:ext cx="2933700" cy="1066800"/>
          </a:xfrm>
          <a:prstGeom prst="rect">
            <a:avLst/>
          </a:prstGeom>
          <a:solidFill>
            <a:srgbClr val="11111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4" name="Google Shape;354;p25"/>
          <p:cNvSpPr txBox="1"/>
          <p:nvPr/>
        </p:nvSpPr>
        <p:spPr>
          <a:xfrm>
            <a:off x="8724900" y="1838325"/>
            <a:ext cx="2647950" cy="781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FACC15"/>
                </a:solidFill>
                <a:latin typeface="Inter SemiBold"/>
                <a:ea typeface="Inter SemiBold"/>
                <a:cs typeface="Inter SemiBold"/>
                <a:sym typeface="Inter SemiBold"/>
              </a:rPr>
              <a:t>PROMPT 1: Tie-Breaking Math</a:t>
            </a:r>
            <a:r>
              <a:rPr lang="en-US" sz="1200" b="0" i="0" u="none" strike="noStrike" cap="none">
                <a:solidFill>
                  <a:srgbClr val="FFFFFF"/>
                </a:solidFill>
                <a:latin typeface="Inter"/>
                <a:ea typeface="Inter"/>
                <a:cs typeface="Inter"/>
                <a:sym typeface="Inter"/>
              </a:rPr>
              <a:t> </a:t>
            </a:r>
            <a:r>
              <a:rPr lang="en-US" sz="1200" b="0" i="1" u="none" strike="noStrike" cap="none">
                <a:solidFill>
                  <a:srgbClr val="CCCCCC"/>
                </a:solidFill>
                <a:latin typeface="Inter"/>
                <a:ea typeface="Inter"/>
                <a:cs typeface="Inter"/>
                <a:sym typeface="Inter"/>
              </a:rPr>
              <a:t>"How do I make a math formula to sort players by score first, then by who achieved that score earliest?"</a:t>
            </a:r>
            <a:endParaRPr/>
          </a:p>
        </p:txBody>
      </p:sp>
      <p:sp>
        <p:nvSpPr>
          <p:cNvPr id="355" name="Google Shape;355;p25"/>
          <p:cNvSpPr/>
          <p:nvPr/>
        </p:nvSpPr>
        <p:spPr>
          <a:xfrm>
            <a:off x="8582025" y="1695450"/>
            <a:ext cx="28575" cy="1066800"/>
          </a:xfrm>
          <a:prstGeom prst="rect">
            <a:avLst/>
          </a:prstGeom>
          <a:solidFill>
            <a:srgbClr val="FACC1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6" name="Google Shape;356;p25"/>
          <p:cNvSpPr/>
          <p:nvPr/>
        </p:nvSpPr>
        <p:spPr>
          <a:xfrm>
            <a:off x="8582025" y="2952750"/>
            <a:ext cx="2933700" cy="1419225"/>
          </a:xfrm>
          <a:prstGeom prst="rect">
            <a:avLst/>
          </a:prstGeom>
          <a:solidFill>
            <a:srgbClr val="11111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7" name="Google Shape;357;p25"/>
          <p:cNvSpPr txBox="1"/>
          <p:nvPr/>
        </p:nvSpPr>
        <p:spPr>
          <a:xfrm>
            <a:off x="8724900" y="3095625"/>
            <a:ext cx="2647950" cy="1133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FACC15"/>
                </a:solidFill>
                <a:latin typeface="Inter SemiBold"/>
                <a:ea typeface="Inter SemiBold"/>
                <a:cs typeface="Inter SemiBold"/>
                <a:sym typeface="Inter SemiBold"/>
              </a:rPr>
              <a:t>PROMPT 2: Technology Comparison</a:t>
            </a:r>
            <a:r>
              <a:rPr lang="en-US" sz="1200" b="0" i="0" u="none" strike="noStrike" cap="none">
                <a:solidFill>
                  <a:srgbClr val="FFFFFF"/>
                </a:solidFill>
                <a:latin typeface="Inter"/>
                <a:ea typeface="Inter"/>
                <a:cs typeface="Inter"/>
                <a:sym typeface="Inter"/>
              </a:rPr>
              <a:t> </a:t>
            </a:r>
            <a:r>
              <a:rPr lang="en-US" sz="1200" b="0" i="1" u="none" strike="noStrike" cap="none">
                <a:solidFill>
                  <a:srgbClr val="CCCCCC"/>
                </a:solidFill>
                <a:latin typeface="Inter"/>
                <a:ea typeface="Inter"/>
                <a:cs typeface="Inter"/>
                <a:sym typeface="Inter"/>
              </a:rPr>
              <a:t>"Compare the speed and memory needed for Skip Lists versus Balanced Trees for a huge online game leaderboard."</a:t>
            </a:r>
            <a:endParaRPr/>
          </a:p>
        </p:txBody>
      </p:sp>
      <p:sp>
        <p:nvSpPr>
          <p:cNvPr id="358" name="Google Shape;358;p25"/>
          <p:cNvSpPr/>
          <p:nvPr/>
        </p:nvSpPr>
        <p:spPr>
          <a:xfrm>
            <a:off x="8582025" y="2952750"/>
            <a:ext cx="28575" cy="1419225"/>
          </a:xfrm>
          <a:prstGeom prst="rect">
            <a:avLst/>
          </a:prstGeom>
          <a:solidFill>
            <a:srgbClr val="FACC1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9" name="Google Shape;359;p25"/>
          <p:cNvSpPr txBox="1"/>
          <p:nvPr/>
        </p:nvSpPr>
        <p:spPr>
          <a:xfrm>
            <a:off x="952500" y="1750218"/>
            <a:ext cx="1047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t>
            </a:r>
            <a:endParaRPr/>
          </a:p>
        </p:txBody>
      </p:sp>
      <p:sp>
        <p:nvSpPr>
          <p:cNvPr id="360" name="Google Shape;360;p25"/>
          <p:cNvSpPr txBox="1"/>
          <p:nvPr/>
        </p:nvSpPr>
        <p:spPr>
          <a:xfrm>
            <a:off x="1057275" y="1752600"/>
            <a:ext cx="6953250" cy="542925"/>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4ADE80"/>
                </a:solidFill>
                <a:latin typeface="Inter SemiBold"/>
                <a:ea typeface="Inter SemiBold"/>
                <a:cs typeface="Inter SemiBold"/>
                <a:sym typeface="Inter SemiBold"/>
              </a:rPr>
              <a:t>Red-Black Trees Deep Dive</a:t>
            </a:r>
            <a:r>
              <a:rPr lang="en-US" sz="1425" b="0" i="0" u="none" strike="noStrike" cap="none">
                <a:solidFill>
                  <a:srgbClr val="D4D4D4"/>
                </a:solidFill>
                <a:latin typeface="Inter Light"/>
                <a:ea typeface="Inter Light"/>
                <a:cs typeface="Inter Light"/>
                <a:sym typeface="Inter Light"/>
              </a:rPr>
              <a:t> </a:t>
            </a:r>
            <a:r>
              <a:rPr lang="en-US" sz="1425" b="0" i="0" u="none" strike="noStrike" cap="none">
                <a:solidFill>
                  <a:srgbClr val="AAAAAA"/>
                </a:solidFill>
                <a:latin typeface="Inter Light"/>
                <a:ea typeface="Inter Light"/>
                <a:cs typeface="Inter Light"/>
                <a:sym typeface="Inter Light"/>
              </a:rPr>
              <a:t>https://www.geeksforgeeks.org/red-black-tree-set-1-introduction-and-insertion/</a:t>
            </a:r>
            <a:endParaRPr/>
          </a:p>
        </p:txBody>
      </p:sp>
      <p:sp>
        <p:nvSpPr>
          <p:cNvPr id="361" name="Google Shape;361;p25"/>
          <p:cNvSpPr txBox="1"/>
          <p:nvPr/>
        </p:nvSpPr>
        <p:spPr>
          <a:xfrm>
            <a:off x="952500" y="2436018"/>
            <a:ext cx="1047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t>
            </a:r>
            <a:endParaRPr/>
          </a:p>
        </p:txBody>
      </p:sp>
      <p:sp>
        <p:nvSpPr>
          <p:cNvPr id="362" name="Google Shape;362;p25"/>
          <p:cNvSpPr txBox="1"/>
          <p:nvPr/>
        </p:nvSpPr>
        <p:spPr>
          <a:xfrm>
            <a:off x="1057275" y="2303863"/>
            <a:ext cx="6953400" cy="877200"/>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4ADE80"/>
                </a:solidFill>
                <a:latin typeface="Inter SemiBold"/>
                <a:ea typeface="Inter SemiBold"/>
                <a:cs typeface="Inter SemiBold"/>
                <a:sym typeface="Inter SemiBold"/>
              </a:rPr>
              <a:t>Skip List Time Complexity Analysis</a:t>
            </a:r>
            <a:r>
              <a:rPr lang="en-US" sz="1425" b="0" i="0" u="none" strike="noStrike" cap="none">
                <a:solidFill>
                  <a:srgbClr val="D4D4D4"/>
                </a:solidFill>
                <a:latin typeface="Inter Light"/>
                <a:ea typeface="Inter Light"/>
                <a:cs typeface="Inter Light"/>
                <a:sym typeface="Inter Light"/>
              </a:rPr>
              <a:t> </a:t>
            </a:r>
            <a:r>
              <a:rPr lang="en-US" sz="1425" b="0" i="0" u="none" strike="noStrike" cap="none">
                <a:solidFill>
                  <a:srgbClr val="AAAAAA"/>
                </a:solidFill>
                <a:latin typeface="Inter Light"/>
                <a:ea typeface="Inter Light"/>
                <a:cs typeface="Inter Light"/>
                <a:sym typeface="Inter Light"/>
              </a:rPr>
              <a:t>https://web.archive.org/web/20070519090659/http://www.cs.umd.edu/~samir/420/SkipLists.pdf</a:t>
            </a:r>
            <a:endParaRPr/>
          </a:p>
        </p:txBody>
      </p:sp>
      <p:sp>
        <p:nvSpPr>
          <p:cNvPr id="363" name="Google Shape;363;p25"/>
          <p:cNvSpPr txBox="1"/>
          <p:nvPr/>
        </p:nvSpPr>
        <p:spPr>
          <a:xfrm>
            <a:off x="952500" y="3121818"/>
            <a:ext cx="1047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t>
            </a:r>
            <a:endParaRPr/>
          </a:p>
        </p:txBody>
      </p:sp>
      <p:sp>
        <p:nvSpPr>
          <p:cNvPr id="364" name="Google Shape;364;p25"/>
          <p:cNvSpPr txBox="1"/>
          <p:nvPr/>
        </p:nvSpPr>
        <p:spPr>
          <a:xfrm>
            <a:off x="1095375" y="3294325"/>
            <a:ext cx="6953400" cy="548400"/>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4ADE80"/>
                </a:solidFill>
                <a:latin typeface="Inter SemiBold"/>
                <a:ea typeface="Inter SemiBold"/>
                <a:cs typeface="Inter SemiBold"/>
                <a:sym typeface="Inter SemiBold"/>
              </a:rPr>
              <a:t>System Design: Leaderboards</a:t>
            </a:r>
            <a:r>
              <a:rPr lang="en-US" sz="1425" b="0" i="0" u="none" strike="noStrike" cap="none">
                <a:solidFill>
                  <a:srgbClr val="D4D4D4"/>
                </a:solidFill>
                <a:latin typeface="Inter Light"/>
                <a:ea typeface="Inter Light"/>
                <a:cs typeface="Inter Light"/>
                <a:sym typeface="Inter Light"/>
              </a:rPr>
              <a:t> </a:t>
            </a:r>
            <a:r>
              <a:rPr lang="en-US" sz="1425" b="0" i="0" u="none" strike="noStrike" cap="none">
                <a:solidFill>
                  <a:srgbClr val="AAAAAA"/>
                </a:solidFill>
                <a:latin typeface="Inter Light"/>
                <a:ea typeface="Inter Light"/>
                <a:cs typeface="Inter Light"/>
                <a:sym typeface="Inter Light"/>
              </a:rPr>
              <a:t>https://systemdesign.one/leaderboard-system-design/</a:t>
            </a:r>
            <a:endParaRPr/>
          </a:p>
        </p:txBody>
      </p:sp>
      <p:sp>
        <p:nvSpPr>
          <p:cNvPr id="365" name="Google Shape;365;p25"/>
          <p:cNvSpPr txBox="1"/>
          <p:nvPr/>
        </p:nvSpPr>
        <p:spPr>
          <a:xfrm>
            <a:off x="952500" y="3807618"/>
            <a:ext cx="1047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t>
            </a:r>
            <a:endParaRPr/>
          </a:p>
        </p:txBody>
      </p:sp>
      <p:sp>
        <p:nvSpPr>
          <p:cNvPr id="366" name="Google Shape;366;p25"/>
          <p:cNvSpPr txBox="1"/>
          <p:nvPr/>
        </p:nvSpPr>
        <p:spPr>
          <a:xfrm>
            <a:off x="1050125" y="3950500"/>
            <a:ext cx="6953400" cy="219300"/>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4ADE80"/>
                </a:solidFill>
                <a:latin typeface="Inter SemiBold"/>
                <a:ea typeface="Inter SemiBold"/>
                <a:cs typeface="Inter SemiBold"/>
                <a:sym typeface="Inter SemiBold"/>
              </a:rPr>
              <a:t>Handling Hash Collisions</a:t>
            </a:r>
            <a:r>
              <a:rPr lang="en-US" sz="1425" b="0" i="0" u="none" strike="noStrike" cap="none">
                <a:solidFill>
                  <a:srgbClr val="D4D4D4"/>
                </a:solidFill>
                <a:latin typeface="Inter Light"/>
                <a:ea typeface="Inter Light"/>
                <a:cs typeface="Inter Light"/>
                <a:sym typeface="Inter Light"/>
              </a:rPr>
              <a:t> </a:t>
            </a:r>
            <a:r>
              <a:rPr lang="en-US" sz="1425" b="0" i="0" u="none" strike="noStrike" cap="none">
                <a:solidFill>
                  <a:srgbClr val="AAAAAA"/>
                </a:solidFill>
                <a:latin typeface="Inter Light"/>
                <a:ea typeface="Inter Light"/>
                <a:cs typeface="Inter Light"/>
                <a:sym typeface="Inter Light"/>
              </a:rPr>
              <a:t>https://www.baeldung.com/java-hashmap-advanced</a:t>
            </a:r>
            <a:endParaRPr/>
          </a:p>
        </p:txBody>
      </p:sp>
      <p:sp>
        <p:nvSpPr>
          <p:cNvPr id="367" name="Google Shape;367;p25"/>
          <p:cNvSpPr txBox="1"/>
          <p:nvPr/>
        </p:nvSpPr>
        <p:spPr>
          <a:xfrm>
            <a:off x="952500" y="4493418"/>
            <a:ext cx="1047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4D4D4"/>
                </a:solidFill>
                <a:latin typeface="Inter Light"/>
                <a:ea typeface="Inter Light"/>
                <a:cs typeface="Inter Light"/>
                <a:sym typeface="Inter Light"/>
              </a:rPr>
              <a:t>•</a:t>
            </a:r>
            <a:endParaRPr/>
          </a:p>
        </p:txBody>
      </p:sp>
      <p:sp>
        <p:nvSpPr>
          <p:cNvPr id="368" name="Google Shape;368;p25"/>
          <p:cNvSpPr txBox="1"/>
          <p:nvPr/>
        </p:nvSpPr>
        <p:spPr>
          <a:xfrm>
            <a:off x="1057275" y="4495800"/>
            <a:ext cx="6953250" cy="542925"/>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4ADE80"/>
                </a:solidFill>
                <a:latin typeface="Inter SemiBold"/>
                <a:ea typeface="Inter SemiBold"/>
                <a:cs typeface="Inter SemiBold"/>
                <a:sym typeface="Inter SemiBold"/>
              </a:rPr>
              <a:t>Microservices Patterns</a:t>
            </a:r>
            <a:r>
              <a:rPr lang="en-US" sz="1425" b="0" i="0" u="none" strike="noStrike" cap="none">
                <a:solidFill>
                  <a:srgbClr val="D4D4D4"/>
                </a:solidFill>
                <a:latin typeface="Inter Light"/>
                <a:ea typeface="Inter Light"/>
                <a:cs typeface="Inter Light"/>
                <a:sym typeface="Inter Light"/>
              </a:rPr>
              <a:t> </a:t>
            </a:r>
            <a:r>
              <a:rPr lang="en-US" sz="1425" b="0" i="0" u="none" strike="noStrike" cap="none">
                <a:solidFill>
                  <a:srgbClr val="AAAAAA"/>
                </a:solidFill>
                <a:latin typeface="Inter Light"/>
                <a:ea typeface="Inter Light"/>
                <a:cs typeface="Inter Light"/>
                <a:sym typeface="Inter Light"/>
              </a:rPr>
              <a:t>https://microservices.io/patterns/microservices.html</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Shape 372"/>
        <p:cNvGrpSpPr/>
        <p:nvPr/>
      </p:nvGrpSpPr>
      <p:grpSpPr>
        <a:xfrm>
          <a:off x="0" y="0"/>
          <a:ext cx="0" cy="0"/>
          <a:chOff x="0" y="0"/>
          <a:chExt cx="0" cy="0"/>
        </a:xfrm>
      </p:grpSpPr>
      <p:pic>
        <p:nvPicPr>
          <p:cNvPr id="373" name="Google Shape;373;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74" name="Google Shape;374;p26"/>
          <p:cNvSpPr txBox="1"/>
          <p:nvPr/>
        </p:nvSpPr>
        <p:spPr>
          <a:xfrm>
            <a:off x="4304253" y="2612725"/>
            <a:ext cx="3583500" cy="11544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7500" b="0" i="0" u="none" strike="noStrike" cap="none">
                <a:solidFill>
                  <a:srgbClr val="4ADE80"/>
                </a:solidFill>
                <a:latin typeface="Inter ExtraBold"/>
                <a:ea typeface="Inter ExtraBold"/>
                <a:cs typeface="Inter ExtraBold"/>
                <a:sym typeface="Inter ExtraBold"/>
              </a:rPr>
              <a:t>Q &amp; A</a:t>
            </a:r>
            <a:endParaRPr/>
          </a:p>
        </p:txBody>
      </p:sp>
      <p:sp>
        <p:nvSpPr>
          <p:cNvPr id="375" name="Google Shape;375;p26"/>
          <p:cNvSpPr txBox="1"/>
          <p:nvPr/>
        </p:nvSpPr>
        <p:spPr>
          <a:xfrm>
            <a:off x="4970859" y="3767137"/>
            <a:ext cx="2250281" cy="4667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000" b="1" i="0" u="none" strike="noStrike" cap="none">
                <a:solidFill>
                  <a:srgbClr val="FFFFFF"/>
                </a:solidFill>
                <a:latin typeface="Inter"/>
                <a:ea typeface="Inter"/>
                <a:cs typeface="Inter"/>
                <a:sym typeface="Inter"/>
              </a:rPr>
              <a:t>Questions?</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1573</Words>
  <Application>Microsoft Office PowerPoint</Application>
  <PresentationFormat>Widescreen</PresentationFormat>
  <Paragraphs>136</Paragraphs>
  <Slides>14</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JetBrains Mono</vt:lpstr>
      <vt:lpstr>Calibri</vt:lpstr>
      <vt:lpstr>Inter ExtraBold</vt:lpstr>
      <vt:lpstr>Inter Light</vt:lpstr>
      <vt:lpstr>Inter</vt:lpstr>
      <vt:lpstr>Arial</vt:lpstr>
      <vt:lpstr>Inter SemiBold</vt:lpstr>
      <vt:lpstr>JetBrains Mono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Joshua Swanson27</cp:lastModifiedBy>
  <cp:revision>1</cp:revision>
  <dcterms:modified xsi:type="dcterms:W3CDTF">2025-12-07T20:34:13Z</dcterms:modified>
</cp:coreProperties>
</file>